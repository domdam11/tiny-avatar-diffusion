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6" r:id="rId7"/>
    <p:sldId id="260" r:id="rId8"/>
    <p:sldId id="268" r:id="rId9"/>
    <p:sldId id="274" r:id="rId10"/>
    <p:sldId id="275" r:id="rId11"/>
    <p:sldId id="263" r:id="rId12"/>
    <p:sldId id="272" r:id="rId13"/>
    <p:sldId id="264" r:id="rId14"/>
    <p:sldId id="265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6385B-618A-4498-94ED-FBC341B0C0DD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CA218-D90E-4D9E-A0ED-F0BD1C494E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586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C085-4FA4-8CF1-C4FA-676C9BFD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D9C7C-3433-074B-B29B-B7CFBC239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64E07-6451-0D9F-FAB1-9593E1E11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1BEDE-EB34-610A-A4CF-BD1C50441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6269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C6367-9987-2DE9-D488-B1DBFF88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ECCBF-DD3F-C87C-05A2-13802ED96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A9DE0-DB1A-97B3-7E81-526C2258C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E9D8A-B66A-F90B-6A15-0E4344CE0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330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ABF6-B859-9FEB-492E-F2641118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947B4-77B8-0818-5022-D45687D87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C0CD4-C793-C43D-D18E-64BE6AFB9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E8C7-0FFB-1093-BDC3-7BD0BC483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8677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E4DE2-6BEC-2F80-850B-E8C0F23A1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E86D76-BE56-5503-F9BF-6BAEACE79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53882E-77AB-B49F-CD53-0D7487CA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1D4A99-F07B-506E-C14F-2A0B1EFF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8C6861-476D-871E-1914-FA584DC3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885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0EAA2-4D5B-FE25-211B-81CC296B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FA5C3C-A729-CC5A-6393-C51DD901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B466D1-B95C-AD57-D180-5F6E737E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E2FC4B-CD19-AF6C-6E2B-991EC789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BACFD7-0CDA-102F-A3EC-86F56B16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54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B0848C-C408-4932-C682-E6B1A2EA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F81FA7-8E3B-CAEE-3A7C-8057BF9A9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39DE31-32F0-F7D1-BB5F-0CA97A06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A5F85E-47FB-7A8A-9719-89CC1661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D160E6-F886-121D-E371-8AAB46CF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194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ECFEA-4DE6-067A-A208-EA0FF640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CDEC1F-D81B-E04B-8B71-A06F06BD3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CC3B154-32C1-F3B1-1493-4456014D7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F04A2F4-9FF5-44BA-5DD5-92B8F6E7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F4C5A3-57A3-39E4-C78D-AC0BA97B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9706C1-2B6D-B1F3-B275-DCB2A4C5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173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7129E8-99BD-6177-8451-B102765C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EEB2E2-94FE-42C1-378B-1CB59F8CA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4E813-2549-FE38-129E-795CD18B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68FE031-6142-C41F-BED9-77B924D06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1E1D1EC-5B10-591D-C660-B374EB5A9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6500A20-C374-69BC-8AC7-9CDAF82C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40FD5D-A951-7518-FFB5-E3675974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91E15C-805D-0640-2C6B-BBE659A8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30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A3C079-A214-9683-0311-7765A176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E924E48-F469-6B5E-394A-7A2672D1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646E19-2C93-01EB-82F4-BB8FAD6E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F266C0-2216-64F9-4A56-FBE67508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340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B873810-2A66-F42B-5509-0DAF62EB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82E4623-64CA-CEFC-09E0-A7574844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AE406F-E1BF-F3BD-84FD-EE65FC3E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92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BA606-EE2F-1AE3-4A8B-D81F6BE65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4071B4-A987-781E-65E6-7B4A3F309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A9522FA-3395-10E3-0F5A-0D5811E1B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2E9722-E032-C9D3-360F-C42B0828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3B408E4-2A0A-2435-F0C9-1E36EFE0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22463B1-7614-4794-75DF-6BEFBCD5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74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B66B6-0608-E4BD-AF7B-952E6140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3FADF61-A7B5-4C2D-B3F3-E7EE8862B7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7EC25D4-1BD2-B463-4BE8-B4A336088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49A240-7361-08FF-D28F-839A636C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F3F688-85EC-1D35-740F-83081000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F91645-ED33-6678-1EEC-6E63506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89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AD51C-8892-7D58-303E-3AB1D589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ADFFCF0-BAB0-FC85-4269-D00BF1637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725738-BE1E-6D20-DF6D-1045BC90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1A2602-BB40-387B-1E0A-C07CC511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34C14E-28C8-CF8C-073B-403940FE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85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3CE4DCA-91C5-39BF-CE97-30CDCC251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E5304E-F63A-C5FA-AA82-C2E0AFCAA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13EDE-673A-E8B0-0B4A-F330910D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C24450-C7D8-B5BE-5E39-7D7DC2E3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650335-237F-B04E-9C8E-83AEE8EB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763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5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F5CDFCD-3050-A620-8150-3A2CB8C6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51AE9E-9D74-07DF-61FC-0F660B15F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3DDDA6-86C1-6372-0F8F-4800F2731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BE301-5731-4ED8-B3DD-1EDA2FC82139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5A5044-84BF-9144-B2AC-69A84DB47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3232D2-4658-4388-7608-3D5C9D5DE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A3A04-26E6-408E-9B31-7EFBB8430C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818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FF">
            <a:alpha val="4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5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3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25880"/>
            <a:ext cx="6949440" cy="146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300" b="1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Tiny Text-</a:t>
            </a:r>
            <a:r>
              <a:rPr kumimoji="0" lang="it-IT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Conditioned</a:t>
            </a: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Avatar </a:t>
            </a:r>
            <a:r>
              <a:rPr kumimoji="0" lang="it-IT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Diffusion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349275"/>
            <a:ext cx="60807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2000" b="0" i="1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Può un modello di diffusione molto piccolo, il cui </a:t>
            </a:r>
            <a:r>
              <a:rPr kumimoji="0" lang="it-IT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denoiser</a:t>
            </a:r>
            <a:r>
              <a:rPr kumimoji="0" lang="it-IT" sz="2000" b="0" i="1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codificatore di testo sono entrambi addestrati da zero, generalizzare a combinazioni di attributi avatar che non sono stati osservati insieme durante l’addestramento?</a:t>
            </a:r>
          </a:p>
        </p:txBody>
      </p:sp>
      <p:pic>
        <p:nvPicPr>
          <p:cNvPr id="11" name="Picture 10" descr="comparison_r1_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97117"/>
            <a:ext cx="1691639" cy="1677181"/>
          </a:xfrm>
          <a:prstGeom prst="rect">
            <a:avLst/>
          </a:prstGeom>
        </p:spPr>
      </p:pic>
      <p:pic>
        <p:nvPicPr>
          <p:cNvPr id="12" name="Picture 11" descr="comparison_r1_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397117"/>
            <a:ext cx="1691639" cy="1677181"/>
          </a:xfrm>
          <a:prstGeom prst="rect">
            <a:avLst/>
          </a:prstGeom>
        </p:spPr>
      </p:pic>
      <p:pic>
        <p:nvPicPr>
          <p:cNvPr id="13" name="Picture 12" descr="comparison_r1_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3271637"/>
            <a:ext cx="1691639" cy="1677181"/>
          </a:xfrm>
          <a:prstGeom prst="rect">
            <a:avLst/>
          </a:prstGeom>
        </p:spPr>
      </p:pic>
      <p:pic>
        <p:nvPicPr>
          <p:cNvPr id="14" name="Picture 13" descr="comparison_r1_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3271637"/>
            <a:ext cx="1691639" cy="16771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79792" y="528523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Campioni conditional effettivamente generati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04104"/>
            <a:ext cx="6537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Domenico D’Ambrosio · Mauro Pasquale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70448"/>
            <a:ext cx="6675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Politecnico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di Bari ·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Docente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Prof. Vito Walter Anelli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3344" y="646480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01 / 13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01 / DATI E RAPPRESENTAZIONE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Dati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caption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split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composizionale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27632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00400" cy="251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Cartoon Set 10.000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0791" y="1627632"/>
            <a:ext cx="2971800" cy="36576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2231" y="1645920"/>
            <a:ext cx="2788920" cy="251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RGB 32 × 32 · [−1,</a:t>
            </a:r>
            <a:r>
              <a:rPr kumimoji="0" lang="it-IT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1]</a:t>
            </a:r>
            <a:r>
              <a:rPr kumimoji="0" lang="it-IT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76148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" y="234086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60904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7.884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240280"/>
            <a:ext cx="276148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57016" y="234086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8052B8"/>
                </a:solidFill>
                <a:latin typeface="Times New Roman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660904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00" b="1" i="0">
                <a:solidFill>
                  <a:srgbClr val="8052B8"/>
                </a:solidFill>
                <a:latin typeface="Times New Roman"/>
              </a:defRPr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986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240280"/>
            <a:ext cx="276148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4808" y="234086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173349"/>
                </a:solidFill>
                <a:latin typeface="Times New Roman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 ORDINARY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660904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2240280"/>
            <a:ext cx="276148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72600" y="234086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AB6331"/>
                </a:solidFill>
                <a:latin typeface="Times New Roman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 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60904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00" b="1" i="0">
                <a:solidFill>
                  <a:srgbClr val="AB6331"/>
                </a:solidFill>
                <a:latin typeface="Times New Roman"/>
              </a:defRPr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5230368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41148" cy="1645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3675888"/>
            <a:ext cx="483717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Training: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attributi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noti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2668" y="4174338"/>
            <a:ext cx="4225375" cy="63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face_shape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= 3</a:t>
            </a: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oppure</a:t>
            </a: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hair_color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= 3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mai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insieme</a:t>
            </a: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).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4297680"/>
            <a:ext cx="548640" cy="0"/>
          </a:xfrm>
          <a:prstGeom prst="line">
            <a:avLst/>
          </a:prstGeom>
          <a:ln>
            <a:tailEnd type="triangl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3520440"/>
            <a:ext cx="4983480" cy="1645920"/>
          </a:xfrm>
          <a:prstGeom prst="roundRect">
            <a:avLst>
              <a:gd name="adj" fmla="val 6000"/>
            </a:avLst>
          </a:prstGeom>
          <a:solidFill>
            <a:srgbClr val="F3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75120" y="3520440"/>
            <a:ext cx="41148" cy="1645920"/>
          </a:xfrm>
          <a:prstGeom prst="rect">
            <a:avLst/>
          </a:prstGeom>
          <a:solidFill>
            <a:srgbClr val="AB6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85432" y="3675888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OOD: coppia mai vista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4178808"/>
            <a:ext cx="4590288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face_shape = 3 e hair_color = 3</a:t>
            </a: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144 esempi esclusi dal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1383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 attributi → caption deterministica → WordLevel</a:t>
            </a: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132 token · lunghezza 44 · vocabolario solo dal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53344" y="646480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02 /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TESTO E ARCHITETTURA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Dal prompt alla U-Net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0607040" cy="3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Caption → </a:t>
            </a:r>
            <a:r>
              <a:rPr kumimoji="0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WordLevel</a:t>
            </a: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→ Transformer · 4 layer / 4 head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</a:t>
            </a: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d = 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697480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3584" y="2770632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Encoder 32 ×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310896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64 ch · 2 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1603" y="2697480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1896" y="2770632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Decoder 32 ×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310896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64 ch · 2 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42032" y="3429000"/>
            <a:ext cx="0" cy="347472"/>
          </a:xfrm>
          <a:prstGeom prst="line">
            <a:avLst/>
          </a:prstGeom>
          <a:ln w="228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610344" y="3429000"/>
            <a:ext cx="0" cy="347472"/>
          </a:xfrm>
          <a:prstGeom prst="line">
            <a:avLst/>
          </a:prstGeom>
          <a:ln w="228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3063240"/>
            <a:ext cx="4279392" cy="0"/>
          </a:xfrm>
          <a:prstGeom prst="line">
            <a:avLst/>
          </a:prstGeom>
          <a:ln w="22860">
            <a:solidFill>
              <a:srgbClr val="AB633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85232" y="27340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AB6331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skip · concat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776472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849624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Encoder 16 ×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18795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128 ch · 2 Res · 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1" y="3776472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11896" y="3849624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Decoder 16 ×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18795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128 ch · 2 Res · CA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42032" y="4507992"/>
            <a:ext cx="0" cy="347472"/>
          </a:xfrm>
          <a:prstGeom prst="line">
            <a:avLst/>
          </a:prstGeom>
          <a:ln w="228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10344" y="4507992"/>
            <a:ext cx="0" cy="347472"/>
          </a:xfrm>
          <a:prstGeom prst="line">
            <a:avLst/>
          </a:prstGeom>
          <a:ln w="228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31920" y="4142232"/>
            <a:ext cx="4279392" cy="0"/>
          </a:xfrm>
          <a:prstGeom prst="line">
            <a:avLst/>
          </a:prstGeom>
          <a:ln w="22860">
            <a:solidFill>
              <a:srgbClr val="AB633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85232" y="38130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AB6331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skip · concat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4855464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3584" y="4928616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Encoder 8 ×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5266944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256 ch · 2 Res · 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7031" y="4855464"/>
            <a:ext cx="2715768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1896" y="4928616"/>
            <a:ext cx="26060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Decoder 8 ×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5266944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256 ch · 2 Res · 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2312" y="4855464"/>
            <a:ext cx="2624328" cy="73152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18888" y="4937760"/>
            <a:ext cx="2551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Bottleneck 8 ×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5303520"/>
            <a:ext cx="2505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Res → CA → Res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0" y="5221224"/>
            <a:ext cx="822960" cy="0"/>
          </a:xfrm>
          <a:prstGeom prst="line">
            <a:avLst/>
          </a:prstGeom>
          <a:ln w="22860">
            <a:solidFill>
              <a:srgbClr val="17334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06640" y="5221224"/>
            <a:ext cx="822960" cy="0"/>
          </a:xfrm>
          <a:prstGeom prst="line">
            <a:avLst/>
          </a:prstGeom>
          <a:ln w="22860">
            <a:solidFill>
              <a:srgbClr val="17334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31920" y="5760720"/>
            <a:ext cx="4261104" cy="0"/>
          </a:xfrm>
          <a:prstGeom prst="line">
            <a:avLst/>
          </a:prstGeom>
          <a:ln w="22860">
            <a:solidFill>
              <a:srgbClr val="AB633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02352" y="57881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>
                <a:solidFill>
                  <a:srgbClr val="AB6331"/>
                </a:solidFill>
                <a:latin typeface="Times New Roman"/>
              </a:defRPr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skip a 8 ×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2441448"/>
            <a:ext cx="3200400" cy="236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Immagine rumorosa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xₜ → Conv 3×3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441448"/>
            <a:ext cx="3291840" cy="236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Norm + Conv →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rumore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3236976"/>
            <a:ext cx="294436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73168" y="3355848"/>
            <a:ext cx="2633472" cy="579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→ cross-attention</a:t>
            </a:r>
          </a:p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→ </a:t>
            </a:r>
            <a:r>
              <a:rPr kumimoji="0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ResBlock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srgbClr val="8052B8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377440"/>
            <a:ext cx="0" cy="804672"/>
          </a:xfrm>
          <a:prstGeom prst="line">
            <a:avLst/>
          </a:prstGeom>
          <a:ln w="22860">
            <a:solidFill>
              <a:srgbClr val="8052B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FCAF08AC-E21E-617A-9E30-93ECB8278A04}"/>
                  </a:ext>
                </a:extLst>
              </p:cNvPr>
              <p:cNvSpPr txBox="1"/>
              <p:nvPr/>
            </p:nvSpPr>
            <p:spPr>
              <a:xfrm>
                <a:off x="10532518" y="2428733"/>
                <a:ext cx="25859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it-IT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87F8C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it-IT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87F8C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it-IT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87F8C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ea typeface="+mn-ea"/>
                                  <a:cs typeface="+mn-cs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kumimoji="0" lang="it-IT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87F8C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+mn-ea"/>
                              <a:cs typeface="+mn-cs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kumimoji="0" 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87F8C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FCAF08AC-E21E-617A-9E30-93ECB827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2518" y="2428733"/>
                <a:ext cx="258596" cy="246221"/>
              </a:xfrm>
              <a:prstGeom prst="rect">
                <a:avLst/>
              </a:prstGeom>
              <a:blipFill>
                <a:blip r:embed="rId3"/>
                <a:stretch>
                  <a:fillRect l="-16667" t="-14634" r="-42857" b="-170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03 / DDPM: TRAINING E GENERAZIONE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DDPM: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training e generazione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68503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Forward noto: immagine pulita → rumore crescente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965192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511149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Training: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predi</a:t>
            </a:r>
            <a:r>
              <a:rPr kumimoji="0" lang="it-IT" sz="21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zione de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rumore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965192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5111496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Sampling: 1.000 step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inversi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8052B8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36792" y="5516799"/>
            <a:ext cx="4974336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8052B8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Testo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codificato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sola volta.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069080"/>
            <a:ext cx="3337560" cy="36576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4087368"/>
            <a:ext cx="31546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β lineare: 0,0001 → 0,02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78FB3E9E-4573-F506-F5FA-7D66DD9D9277}"/>
                  </a:ext>
                </a:extLst>
              </p:cNvPr>
              <p:cNvSpPr txBox="1"/>
              <p:nvPr/>
            </p:nvSpPr>
            <p:spPr>
              <a:xfrm>
                <a:off x="6345936" y="5838795"/>
                <a:ext cx="3013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e>
                      </m:d>
                      <m: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→</m:t>
                      </m:r>
                      <m: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𝑠𝑡𝑖𝑚𝑎</m:t>
                      </m:r>
                      <m: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it-IT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it-IT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→</m:t>
                      </m:r>
                      <m:sSub>
                        <m:sSubPr>
                          <m:ctrlP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it-IT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78FB3E9E-4573-F506-F5FA-7D66DD9D9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936" y="5838795"/>
                <a:ext cx="3013646" cy="276999"/>
              </a:xfrm>
              <a:prstGeom prst="rect">
                <a:avLst/>
              </a:prstGeom>
              <a:blipFill>
                <a:blip r:embed="rId3"/>
                <a:stretch>
                  <a:fillRect l="-607" t="-26667" r="-202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magine 18">
            <a:extLst>
              <a:ext uri="{FF2B5EF4-FFF2-40B4-BE49-F238E27FC236}">
                <a16:creationId xmlns:a16="http://schemas.microsoft.com/office/drawing/2014/main" id="{27FD52CF-1340-8A05-73F4-E1BB9E9FB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53" y="1621027"/>
            <a:ext cx="10780774" cy="1959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74798DB9-2F9F-ED1D-F8CE-B81C4015ABDC}"/>
                  </a:ext>
                </a:extLst>
              </p:cNvPr>
              <p:cNvSpPr txBox="1"/>
              <p:nvPr/>
            </p:nvSpPr>
            <p:spPr>
              <a:xfrm>
                <a:off x="880903" y="4202289"/>
                <a:ext cx="3902763" cy="4883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b>
                            <m:sSubPr>
                              <m:ctrlP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𝜀</m:t>
                      </m:r>
                    </m:oMath>
                  </m:oMathPara>
                </a14:m>
                <a:endParaRPr kumimoji="0" lang="it-IT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74798DB9-2F9F-ED1D-F8CE-B81C4015A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03" y="4202289"/>
                <a:ext cx="3902763" cy="4883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2120671D-7699-274C-DEFC-0D507BDFB2A9}"/>
                  </a:ext>
                </a:extLst>
              </p:cNvPr>
              <p:cNvSpPr txBox="1"/>
              <p:nvPr/>
            </p:nvSpPr>
            <p:spPr>
              <a:xfrm>
                <a:off x="5188631" y="4246403"/>
                <a:ext cx="167994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𝜀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𝒩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(0, 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it-IT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2120671D-7699-274C-DEFC-0D507BDFB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631" y="4246403"/>
                <a:ext cx="167994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DBFF64B-B6E1-4650-39D6-94643CF1F10C}"/>
                  </a:ext>
                </a:extLst>
              </p:cNvPr>
              <p:cNvSpPr txBox="1"/>
              <p:nvPr/>
            </p:nvSpPr>
            <p:spPr>
              <a:xfrm>
                <a:off x="777240" y="5554115"/>
                <a:ext cx="4718023" cy="45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𝜀</m:t>
                          </m:r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[ </m:t>
                      </m:r>
                      <m:sSubSup>
                        <m:sSubSupPr>
                          <m:ctrlP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𝜀</m:t>
                              </m:r>
                              <m:r>
                                <a:rPr kumimoji="0" lang="it-IT" sz="2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it-IT" sz="2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it-IT" sz="2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it-IT" sz="2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it-IT" sz="2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it-IT" sz="2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kumimoji="0" lang="it-IT" sz="2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it-IT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it-IT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]</m:t>
                      </m:r>
                    </m:oMath>
                  </m:oMathPara>
                </a14:m>
                <a:endParaRPr kumimoji="0" lang="it-IT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DBFF64B-B6E1-4650-39D6-94643CF1F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5554115"/>
                <a:ext cx="4718023" cy="451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04 / ARCHITETTURA E CONDITIONING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Architettura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condizionata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baseline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unconditional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05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8EA2529-E26E-8FCC-03D1-C08E20024A6B}"/>
                  </a:ext>
                </a:extLst>
              </p:cNvPr>
              <p:cNvSpPr txBox="1"/>
              <p:nvPr/>
            </p:nvSpPr>
            <p:spPr>
              <a:xfrm>
                <a:off x="711161" y="5880280"/>
                <a:ext cx="107574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Modello </a:t>
                </a:r>
                <a:r>
                  <a:rPr kumimoji="0" lang="it-IT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conditional</a:t>
                </a:r>
                <a:r>
                  <a:rPr kumimoji="0" lang="it-IT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 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riceve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timestep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it-IT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052B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it-IT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052B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 contesto testuale </a:t>
                </a:r>
                <a14:m>
                  <m:oMath xmlns:m="http://schemas.openxmlformats.org/officeDocument/2006/math">
                    <m:r>
                      <a:rPr kumimoji="0" lang="it-IT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052B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</a:t>
                </a:r>
                <a:b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</a:br>
                <a:r>
                  <a:rPr kumimoji="0" lang="it-IT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Baseline </a:t>
                </a:r>
                <a:r>
                  <a:rPr kumimoji="0" lang="it-IT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unconditional</a:t>
                </a:r>
                <a:r>
                  <a:rPr kumimoji="0" lang="it-IT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 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stessa U-Net 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multirisoluzione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riceve solo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it-IT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052B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it-IT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052B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kumimoji="0" lang="it-IT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052B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; text encoder e cross-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attention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52B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rimossi.</a:t>
                </a:r>
                <a:endParaRPr kumimoji="0" lang="it-IT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8EA2529-E26E-8FCC-03D1-C08E20024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1" y="5880280"/>
                <a:ext cx="10757486" cy="584775"/>
              </a:xfrm>
              <a:prstGeom prst="rect">
                <a:avLst/>
              </a:prstGeom>
              <a:blipFill>
                <a:blip r:embed="rId4"/>
                <a:stretch>
                  <a:fillRect l="-340" t="-3125" b="-12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6EB0FCBE-A0C2-F0E2-8768-CA6587E12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554" y="1621027"/>
            <a:ext cx="7886700" cy="420623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87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 / TRAINING E RIPRODUCIBILITÀ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Training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verificato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riproducibile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719072"/>
            <a:ext cx="3602736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19656"/>
            <a:ext cx="323697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>
                <a:solidFill>
                  <a:srgbClr val="087F8C"/>
                </a:solidFill>
                <a:latin typeface="Times New Roman"/>
              </a:defRPr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step per </a:t>
            </a:r>
            <a:r>
              <a:rPr kumimoji="0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modello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srgbClr val="526675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79" y="1719072"/>
            <a:ext cx="3602736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0559" y="1819656"/>
            <a:ext cx="323697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>
                <a:solidFill>
                  <a:srgbClr val="087F8C"/>
                </a:solidFill>
                <a:latin typeface="Times New Roman"/>
              </a:defRPr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432304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batch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19072"/>
            <a:ext cx="3602736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9" y="1819656"/>
            <a:ext cx="323697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>
                <a:solidFill>
                  <a:srgbClr val="087F8C"/>
                </a:solidFill>
                <a:latin typeface="Times New Roman"/>
              </a:defRPr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432304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 automatici superati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41148" cy="2423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388" y="3441402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Ottimizzazione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85941" y="3839166"/>
                <a:ext cx="5138928" cy="186519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LR: U-Net </a:t>
                </a:r>
                <a14:m>
                  <m:oMath xmlns:m="http://schemas.openxmlformats.org/officeDocument/2006/math"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2 </m:t>
                    </m:r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</m:t>
                        </m:r>
                      </m:sup>
                    </m:sSup>
                  </m:oMath>
                </a14:m>
                <a:endParaRPr kumimoji="0" lang="it-IT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7334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Text encoder </a:t>
                </a:r>
                <a14:m>
                  <m:oMath xmlns:m="http://schemas.openxmlformats.org/officeDocument/2006/math"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1 </m:t>
                    </m:r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it-IT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34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0" lang="it-IT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7334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</m:t>
                        </m:r>
                      </m:sup>
                    </m:sSup>
                  </m:oMath>
                </a14:m>
                <a:endParaRPr kumimoji="0" lang="it-IT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7334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AdamW</a:t>
                </a: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con mixed </a:t>
                </a:r>
                <a:r>
                  <a:rPr kumimoji="0" lang="it-IT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precision</a:t>
                </a: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(AMP)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Gradient</a:t>
                </a: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clipping con norma massima a 1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Seed: 2026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 sz="2200" b="0" i="0">
                    <a:solidFill>
                      <a:srgbClr val="173349"/>
                    </a:solidFill>
                    <a:latin typeface="Times New Roman"/>
                  </a:defRPr>
                </a:pPr>
                <a:r>
                  <a:rPr kumimoji="0" lang="it-IT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34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Validazione ogni 500 step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3839166"/>
                <a:ext cx="5138928" cy="1865191"/>
              </a:xfrm>
              <a:prstGeom prst="rect">
                <a:avLst/>
              </a:prstGeom>
              <a:blipFill>
                <a:blip r:embed="rId3"/>
                <a:stretch>
                  <a:fillRect l="-2847" t="-4902" b="-71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/>
          <p:nvPr/>
        </p:nvSpPr>
        <p:spPr>
          <a:xfrm>
            <a:off x="6126480" y="329184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3291840"/>
            <a:ext cx="41148" cy="2423160"/>
          </a:xfrm>
          <a:prstGeom prst="rect">
            <a:avLst/>
          </a:prstGeom>
          <a:solidFill>
            <a:srgbClr val="80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6792" y="3447288"/>
            <a:ext cx="50932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Controlli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preliminari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8052B8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3950208"/>
            <a:ext cx="5093208" cy="101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Tiny overfit: 1,147447 → 0,011468</a:t>
            </a:r>
          </a:p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Migliore evaluation loss: 0,011207</a:t>
            </a:r>
          </a:p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Checkpoint e seed </a:t>
            </a:r>
            <a:r>
              <a:rPr kumimoji="0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conservati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5215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1">
                <a:solidFill>
                  <a:srgbClr val="AB6331"/>
                </a:solidFill>
                <a:latin typeface="Times New Roman"/>
              </a:defRPr>
            </a:pP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Confronto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coerente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nelle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impostazioni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  <a:r>
              <a:rPr kumimoji="0" lang="it-IT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 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non a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parità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esatta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di </a:t>
            </a:r>
            <a:r>
              <a:rPr kumimoji="0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parametri</a:t>
            </a:r>
            <a:r>
              <a:rPr kumimoji="0" sz="1900" b="0" i="1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06 / CURVE DI TRAINING E NOTE DI LETTURA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Curv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 di training e interpretazione dei risultati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v3_cell192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743" y="1655064"/>
            <a:ext cx="8464032" cy="32826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74920"/>
            <a:ext cx="3602736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41148" cy="115214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5230368"/>
            <a:ext cx="3209544" cy="339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KID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negativo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6" y="5668675"/>
            <a:ext cx="3209544" cy="461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15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Lo stimatore non distorto può risultare negativo su campioni finiti.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79" y="5074920"/>
            <a:ext cx="3602736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79" y="5074920"/>
            <a:ext cx="41148" cy="115214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07992" y="5230368"/>
            <a:ext cx="3209544" cy="339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Leave-one-out: 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849" y="5664859"/>
            <a:ext cx="3209544" cy="469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15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Copertura della combinazione completa pari a zero.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9" y="5074920"/>
            <a:ext cx="3602736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19" y="5074920"/>
            <a:ext cx="41148" cy="115214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7031" y="5230368"/>
            <a:ext cx="3209544" cy="339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Memoria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889" y="5693434"/>
            <a:ext cx="32095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Picco del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processo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non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isolato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07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4913-062B-EFE4-BFE9-C953252EA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9301F-09DE-44C6-0D24-1A61C0A742D0}"/>
              </a:ext>
            </a:extLst>
          </p:cNvPr>
          <p:cNvSpPr txBox="1"/>
          <p:nvPr/>
        </p:nvSpPr>
        <p:spPr>
          <a:xfrm>
            <a:off x="438912" y="265176"/>
            <a:ext cx="10058400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7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/ CONFRONTO CON LA 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0AADC-E1C0-8361-1667-68AD7D76674D}"/>
              </a:ext>
            </a:extLst>
          </p:cNvPr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ualità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c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osto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confronto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A066224-4335-D511-D3F2-4AE00F20DA95}"/>
              </a:ext>
            </a:extLst>
          </p:cNvPr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BE8AC14-FDA6-9CFA-5C10-C970952364B7}"/>
              </a:ext>
            </a:extLst>
          </p:cNvPr>
          <p:cNvSpPr/>
          <p:nvPr/>
        </p:nvSpPr>
        <p:spPr>
          <a:xfrm>
            <a:off x="548640" y="1728216"/>
            <a:ext cx="4663440" cy="502920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99B75-C670-3E78-DB72-AF7BD043F83B}"/>
              </a:ext>
            </a:extLst>
          </p:cNvPr>
          <p:cNvSpPr txBox="1"/>
          <p:nvPr/>
        </p:nvSpPr>
        <p:spPr>
          <a:xfrm>
            <a:off x="676656" y="1819656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Misura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363CD-162C-34E8-0712-B55ED2494A51}"/>
              </a:ext>
            </a:extLst>
          </p:cNvPr>
          <p:cNvSpPr/>
          <p:nvPr/>
        </p:nvSpPr>
        <p:spPr>
          <a:xfrm>
            <a:off x="5212080" y="1728216"/>
            <a:ext cx="3154680" cy="502920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D6CC-8DFE-E7F4-584C-6963FE24276F}"/>
              </a:ext>
            </a:extLst>
          </p:cNvPr>
          <p:cNvSpPr txBox="1"/>
          <p:nvPr/>
        </p:nvSpPr>
        <p:spPr>
          <a:xfrm>
            <a:off x="5340096" y="1819656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Conditional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8C0BEB-3900-368B-F3D0-D7CBEC7E7F2B}"/>
              </a:ext>
            </a:extLst>
          </p:cNvPr>
          <p:cNvSpPr/>
          <p:nvPr/>
        </p:nvSpPr>
        <p:spPr>
          <a:xfrm>
            <a:off x="8366760" y="1728216"/>
            <a:ext cx="3246120" cy="502920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FA98B-7CF9-9BDD-359B-62DCF80D892A}"/>
              </a:ext>
            </a:extLst>
          </p:cNvPr>
          <p:cNvSpPr txBox="1"/>
          <p:nvPr/>
        </p:nvSpPr>
        <p:spPr>
          <a:xfrm>
            <a:off x="8494776" y="1819656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Unconditional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51100-9DBA-56DD-6CCC-6437FCCD41AE}"/>
              </a:ext>
            </a:extLst>
          </p:cNvPr>
          <p:cNvSpPr/>
          <p:nvPr/>
        </p:nvSpPr>
        <p:spPr>
          <a:xfrm>
            <a:off x="548640" y="2231136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24A64F-459D-4D2D-D53E-85F66C219A0F}"/>
              </a:ext>
            </a:extLst>
          </p:cNvPr>
          <p:cNvSpPr txBox="1"/>
          <p:nvPr/>
        </p:nvSpPr>
        <p:spPr>
          <a:xfrm>
            <a:off x="676656" y="2322576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Migliore validation loss 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1B9D4D-8405-5E24-645C-66CDE841987B}"/>
              </a:ext>
            </a:extLst>
          </p:cNvPr>
          <p:cNvSpPr/>
          <p:nvPr/>
        </p:nvSpPr>
        <p:spPr>
          <a:xfrm>
            <a:off x="5212080" y="2231136"/>
            <a:ext cx="3154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C48A6-D094-0C11-AD42-997341FE90B7}"/>
              </a:ext>
            </a:extLst>
          </p:cNvPr>
          <p:cNvSpPr txBox="1"/>
          <p:nvPr/>
        </p:nvSpPr>
        <p:spPr>
          <a:xfrm>
            <a:off x="5340096" y="2322576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0,004186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98FD80-AB2C-E564-1E49-60C92204AA5A}"/>
              </a:ext>
            </a:extLst>
          </p:cNvPr>
          <p:cNvSpPr/>
          <p:nvPr/>
        </p:nvSpPr>
        <p:spPr>
          <a:xfrm>
            <a:off x="8366760" y="2231136"/>
            <a:ext cx="3246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2CD58-73FC-CF3E-F666-5A289AE19A7E}"/>
              </a:ext>
            </a:extLst>
          </p:cNvPr>
          <p:cNvSpPr txBox="1"/>
          <p:nvPr/>
        </p:nvSpPr>
        <p:spPr>
          <a:xfrm>
            <a:off x="8494776" y="2322576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0,006287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5617D0-D1DE-946B-A501-639ED06CDF3F}"/>
              </a:ext>
            </a:extLst>
          </p:cNvPr>
          <p:cNvSpPr/>
          <p:nvPr/>
        </p:nvSpPr>
        <p:spPr>
          <a:xfrm>
            <a:off x="548640" y="2734056"/>
            <a:ext cx="466344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0A5571-CE48-C2FD-F6C6-2C37F84F081B}"/>
              </a:ext>
            </a:extLst>
          </p:cNvPr>
          <p:cNvSpPr txBox="1"/>
          <p:nvPr/>
        </p:nvSpPr>
        <p:spPr>
          <a:xfrm>
            <a:off x="676656" y="2825496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Step del checkpoint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286AD-45A8-306D-50CF-F582A74CF0B5}"/>
              </a:ext>
            </a:extLst>
          </p:cNvPr>
          <p:cNvSpPr/>
          <p:nvPr/>
        </p:nvSpPr>
        <p:spPr>
          <a:xfrm>
            <a:off x="5212080" y="2734056"/>
            <a:ext cx="315468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5F918C-E338-C133-6851-48D6A0E62695}"/>
              </a:ext>
            </a:extLst>
          </p:cNvPr>
          <p:cNvSpPr txBox="1"/>
          <p:nvPr/>
        </p:nvSpPr>
        <p:spPr>
          <a:xfrm>
            <a:off x="5340096" y="2825496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10.000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D0D58C-C436-993B-23D3-DEB9D5BDC0F6}"/>
              </a:ext>
            </a:extLst>
          </p:cNvPr>
          <p:cNvSpPr/>
          <p:nvPr/>
        </p:nvSpPr>
        <p:spPr>
          <a:xfrm>
            <a:off x="8366760" y="2734056"/>
            <a:ext cx="324612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502ECE-688D-829C-5AF4-343E22CDB412}"/>
              </a:ext>
            </a:extLst>
          </p:cNvPr>
          <p:cNvSpPr txBox="1"/>
          <p:nvPr/>
        </p:nvSpPr>
        <p:spPr>
          <a:xfrm>
            <a:off x="8494776" y="2825496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9.000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7FCD7C-0C2F-2DE1-2EC0-FCCA1BC03C86}"/>
              </a:ext>
            </a:extLst>
          </p:cNvPr>
          <p:cNvSpPr/>
          <p:nvPr/>
        </p:nvSpPr>
        <p:spPr>
          <a:xfrm>
            <a:off x="548640" y="3236976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77BDBE-F251-CECB-4E10-3E14C2A6F0EB}"/>
              </a:ext>
            </a:extLst>
          </p:cNvPr>
          <p:cNvSpPr txBox="1"/>
          <p:nvPr/>
        </p:nvSpPr>
        <p:spPr>
          <a:xfrm>
            <a:off x="676656" y="3328416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KID medio 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C4BD76-E4C9-E2A8-B49C-FCF8A7EF1F9B}"/>
              </a:ext>
            </a:extLst>
          </p:cNvPr>
          <p:cNvSpPr/>
          <p:nvPr/>
        </p:nvSpPr>
        <p:spPr>
          <a:xfrm>
            <a:off x="5212080" y="3236976"/>
            <a:ext cx="3154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D4B88-764F-1017-F765-6A0D664C1437}"/>
              </a:ext>
            </a:extLst>
          </p:cNvPr>
          <p:cNvSpPr txBox="1"/>
          <p:nvPr/>
        </p:nvSpPr>
        <p:spPr>
          <a:xfrm>
            <a:off x="5340096" y="3328416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−0,005292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294354-9200-9D6E-7A11-A547017C6749}"/>
              </a:ext>
            </a:extLst>
          </p:cNvPr>
          <p:cNvSpPr/>
          <p:nvPr/>
        </p:nvSpPr>
        <p:spPr>
          <a:xfrm>
            <a:off x="8366760" y="3236976"/>
            <a:ext cx="3246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D5996B-0485-7F1C-98E2-926315C70F7C}"/>
              </a:ext>
            </a:extLst>
          </p:cNvPr>
          <p:cNvSpPr txBox="1"/>
          <p:nvPr/>
        </p:nvSpPr>
        <p:spPr>
          <a:xfrm>
            <a:off x="8494776" y="3328416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0,004312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463318-5B45-D80A-178D-1EA2FCDC155E}"/>
              </a:ext>
            </a:extLst>
          </p:cNvPr>
          <p:cNvSpPr/>
          <p:nvPr/>
        </p:nvSpPr>
        <p:spPr>
          <a:xfrm>
            <a:off x="548640" y="3739896"/>
            <a:ext cx="466344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35C80C-43B1-D238-A4D9-36D29D912141}"/>
              </a:ext>
            </a:extLst>
          </p:cNvPr>
          <p:cNvSpPr txBox="1"/>
          <p:nvPr/>
        </p:nvSpPr>
        <p:spPr>
          <a:xfrm>
            <a:off x="676656" y="3831335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Parametri totali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1B5663-6FD0-D7A1-077D-5C0EB45C6DAA}"/>
              </a:ext>
            </a:extLst>
          </p:cNvPr>
          <p:cNvSpPr/>
          <p:nvPr/>
        </p:nvSpPr>
        <p:spPr>
          <a:xfrm>
            <a:off x="5212080" y="3739896"/>
            <a:ext cx="315468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E901D3-00A5-941F-A277-A49B3E98EC85}"/>
              </a:ext>
            </a:extLst>
          </p:cNvPr>
          <p:cNvSpPr txBox="1"/>
          <p:nvPr/>
        </p:nvSpPr>
        <p:spPr>
          <a:xfrm>
            <a:off x="5340096" y="3831335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12,004 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251404-9BBB-1B97-979E-4BC3BA29C3EE}"/>
              </a:ext>
            </a:extLst>
          </p:cNvPr>
          <p:cNvSpPr/>
          <p:nvPr/>
        </p:nvSpPr>
        <p:spPr>
          <a:xfrm>
            <a:off x="8366760" y="3739896"/>
            <a:ext cx="324612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DB6705-41EE-7377-B0F8-788CEA1BBF46}"/>
              </a:ext>
            </a:extLst>
          </p:cNvPr>
          <p:cNvSpPr txBox="1"/>
          <p:nvPr/>
        </p:nvSpPr>
        <p:spPr>
          <a:xfrm>
            <a:off x="8494776" y="3831335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10,467 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F828E6-4A48-E77A-C5C1-E6C168AA740D}"/>
              </a:ext>
            </a:extLst>
          </p:cNvPr>
          <p:cNvSpPr/>
          <p:nvPr/>
        </p:nvSpPr>
        <p:spPr>
          <a:xfrm>
            <a:off x="548640" y="4242816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963321-470F-754A-C016-AF16DB3F8A0C}"/>
              </a:ext>
            </a:extLst>
          </p:cNvPr>
          <p:cNvSpPr txBox="1"/>
          <p:nvPr/>
        </p:nvSpPr>
        <p:spPr>
          <a:xfrm>
            <a:off x="676656" y="4334255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Tempo per immagine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2CF92A-A343-13FA-8733-EFF695402080}"/>
              </a:ext>
            </a:extLst>
          </p:cNvPr>
          <p:cNvSpPr/>
          <p:nvPr/>
        </p:nvSpPr>
        <p:spPr>
          <a:xfrm>
            <a:off x="5212080" y="4242816"/>
            <a:ext cx="3154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A9EB57-2642-16EE-D575-141B2CDC2CDB}"/>
              </a:ext>
            </a:extLst>
          </p:cNvPr>
          <p:cNvSpPr txBox="1"/>
          <p:nvPr/>
        </p:nvSpPr>
        <p:spPr>
          <a:xfrm>
            <a:off x="5340096" y="4334255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11,260 ± 0,136 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38A096-F71E-092B-DF03-F43BEEFC805B}"/>
              </a:ext>
            </a:extLst>
          </p:cNvPr>
          <p:cNvSpPr/>
          <p:nvPr/>
        </p:nvSpPr>
        <p:spPr>
          <a:xfrm>
            <a:off x="8366760" y="4242816"/>
            <a:ext cx="3246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64E401-8A06-8C35-51C5-DFEDD394AFEA}"/>
              </a:ext>
            </a:extLst>
          </p:cNvPr>
          <p:cNvSpPr txBox="1"/>
          <p:nvPr/>
        </p:nvSpPr>
        <p:spPr>
          <a:xfrm>
            <a:off x="8494776" y="4334255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7,672 ± 0,063 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CEC2AB-6561-0671-4B03-731C694727BB}"/>
              </a:ext>
            </a:extLst>
          </p:cNvPr>
          <p:cNvSpPr/>
          <p:nvPr/>
        </p:nvSpPr>
        <p:spPr>
          <a:xfrm>
            <a:off x="548640" y="4745736"/>
            <a:ext cx="466344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14A21D-4303-2D34-C3C6-B5B928556661}"/>
              </a:ext>
            </a:extLst>
          </p:cNvPr>
          <p:cNvSpPr txBox="1"/>
          <p:nvPr/>
        </p:nvSpPr>
        <p:spPr>
          <a:xfrm>
            <a:off x="676656" y="4837176"/>
            <a:ext cx="44074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Pesi + buffer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DFACC8-EE63-CEFF-46F1-BA1CE6528293}"/>
              </a:ext>
            </a:extLst>
          </p:cNvPr>
          <p:cNvSpPr/>
          <p:nvPr/>
        </p:nvSpPr>
        <p:spPr>
          <a:xfrm>
            <a:off x="5212080" y="4745736"/>
            <a:ext cx="315468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48F675-12DB-349C-C290-E68DC4CE388D}"/>
              </a:ext>
            </a:extLst>
          </p:cNvPr>
          <p:cNvSpPr txBox="1"/>
          <p:nvPr/>
        </p:nvSpPr>
        <p:spPr>
          <a:xfrm>
            <a:off x="5340096" y="4837176"/>
            <a:ext cx="2898648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45,81 MiB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7C496A5-CA67-8986-3367-25D92F9EA56D}"/>
              </a:ext>
            </a:extLst>
          </p:cNvPr>
          <p:cNvSpPr/>
          <p:nvPr/>
        </p:nvSpPr>
        <p:spPr>
          <a:xfrm>
            <a:off x="8366760" y="4745736"/>
            <a:ext cx="3246120" cy="502920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BBCC85-09EE-D046-4247-9F935BC1CEB8}"/>
              </a:ext>
            </a:extLst>
          </p:cNvPr>
          <p:cNvSpPr txBox="1"/>
          <p:nvPr/>
        </p:nvSpPr>
        <p:spPr>
          <a:xfrm>
            <a:off x="8494776" y="4837176"/>
            <a:ext cx="2990087" cy="3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39,93 MiB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CEF36DA-A386-66BD-891A-BBFF0B6811EF}"/>
              </a:ext>
            </a:extLst>
          </p:cNvPr>
          <p:cNvSpPr/>
          <p:nvPr/>
        </p:nvSpPr>
        <p:spPr>
          <a:xfrm>
            <a:off x="548640" y="5486400"/>
            <a:ext cx="11064240" cy="576072"/>
          </a:xfrm>
          <a:prstGeom prst="roundRect">
            <a:avLst>
              <a:gd name="adj" fmla="val 6000"/>
            </a:avLst>
          </a:prstGeom>
          <a:solidFill>
            <a:srgbClr val="F3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E83F89-1BA1-4BF9-A58B-0C035662C3C7}"/>
              </a:ext>
            </a:extLst>
          </p:cNvPr>
          <p:cNvSpPr txBox="1"/>
          <p:nvPr/>
        </p:nvSpPr>
        <p:spPr>
          <a:xfrm>
            <a:off x="749808" y="5614416"/>
            <a:ext cx="10652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Nel test interno: qualità migliore, ma sampling più lento.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EC608-79FE-E637-0B43-BDA7F9340663}"/>
              </a:ext>
            </a:extLst>
          </p:cNvPr>
          <p:cNvSpPr txBox="1"/>
          <p:nvPr/>
        </p:nvSpPr>
        <p:spPr>
          <a:xfrm>
            <a:off x="594360" y="6199632"/>
            <a:ext cx="10972800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KID: 64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reali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+ 64 generate · 100 subset da 50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immagini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 T4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batch 1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 seed per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tempi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B17FAC-713A-57AA-525E-052B406F3C02}"/>
              </a:ext>
            </a:extLst>
          </p:cNvPr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274868286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B607-D08D-8BF1-E881-92B70243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7A6E9-E552-7772-F59B-47E44108347B}"/>
              </a:ext>
            </a:extLst>
          </p:cNvPr>
          <p:cNvSpPr txBox="1"/>
          <p:nvPr/>
        </p:nvSpPr>
        <p:spPr>
          <a:xfrm>
            <a:off x="438912" y="265176"/>
            <a:ext cx="10058400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CONFRONTO VISIVO CONTROLLATO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7173D-E734-6EF3-1C1E-754DE078350F}"/>
              </a:ext>
            </a:extLst>
          </p:cNvPr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Il testo guida la generazione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7C6FE23-C346-8B52-4E33-47B349742A5C}"/>
              </a:ext>
            </a:extLst>
          </p:cNvPr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92FEE5-031A-4036-713C-9B9746203F6B}"/>
              </a:ext>
            </a:extLst>
          </p:cNvPr>
          <p:cNvSpPr txBox="1"/>
          <p:nvPr/>
        </p:nvSpPr>
        <p:spPr>
          <a:xfrm>
            <a:off x="1764792" y="1609343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526675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Prompt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1119D-1AB2-B3F3-9BB8-9ABDCCFA3204}"/>
              </a:ext>
            </a:extLst>
          </p:cNvPr>
          <p:cNvSpPr txBox="1"/>
          <p:nvPr/>
        </p:nvSpPr>
        <p:spPr>
          <a:xfrm>
            <a:off x="4069080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526675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Prompt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AB8A7-7873-04B8-57F7-B61AA04A8F50}"/>
              </a:ext>
            </a:extLst>
          </p:cNvPr>
          <p:cNvSpPr txBox="1"/>
          <p:nvPr/>
        </p:nvSpPr>
        <p:spPr>
          <a:xfrm>
            <a:off x="6373368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526675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Prompt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4C362-E7A3-A65A-D079-A0645215815D}"/>
              </a:ext>
            </a:extLst>
          </p:cNvPr>
          <p:cNvSpPr txBox="1"/>
          <p:nvPr/>
        </p:nvSpPr>
        <p:spPr>
          <a:xfrm>
            <a:off x="8677656" y="163487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526675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Prompt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6A282-80DC-EE10-257D-8AE5DE952C73}"/>
              </a:ext>
            </a:extLst>
          </p:cNvPr>
          <p:cNvSpPr txBox="1"/>
          <p:nvPr/>
        </p:nvSpPr>
        <p:spPr>
          <a:xfrm>
            <a:off x="548640" y="224942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 i="0">
                <a:solidFill>
                  <a:srgbClr val="526675"/>
                </a:solidFill>
                <a:latin typeface="Times New Roman"/>
              </a:defRPr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Reale</a:t>
            </a:r>
          </a:p>
        </p:txBody>
      </p:sp>
      <p:pic>
        <p:nvPicPr>
          <p:cNvPr id="10" name="Picture 9" descr="comparison_r0_c0.png">
            <a:extLst>
              <a:ext uri="{FF2B5EF4-FFF2-40B4-BE49-F238E27FC236}">
                <a16:creationId xmlns:a16="http://schemas.microsoft.com/office/drawing/2014/main" id="{42EFCB5D-DABE-7403-2DDB-173C283E2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1998472"/>
            <a:ext cx="1188720" cy="1178560"/>
          </a:xfrm>
          <a:prstGeom prst="rect">
            <a:avLst/>
          </a:prstGeom>
        </p:spPr>
      </p:pic>
      <p:pic>
        <p:nvPicPr>
          <p:cNvPr id="11" name="Picture 10" descr="comparison_r0_c1.png">
            <a:extLst>
              <a:ext uri="{FF2B5EF4-FFF2-40B4-BE49-F238E27FC236}">
                <a16:creationId xmlns:a16="http://schemas.microsoft.com/office/drawing/2014/main" id="{717902E8-6B2E-3D6A-D2E2-03753783B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98472"/>
            <a:ext cx="1188720" cy="1178560"/>
          </a:xfrm>
          <a:prstGeom prst="rect">
            <a:avLst/>
          </a:prstGeom>
        </p:spPr>
      </p:pic>
      <p:pic>
        <p:nvPicPr>
          <p:cNvPr id="12" name="Picture 11" descr="comparison_r0_c2.png">
            <a:extLst>
              <a:ext uri="{FF2B5EF4-FFF2-40B4-BE49-F238E27FC236}">
                <a16:creationId xmlns:a16="http://schemas.microsoft.com/office/drawing/2014/main" id="{E1131CF9-92B6-A3F6-24A9-4074D8714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998472"/>
            <a:ext cx="1188720" cy="1178560"/>
          </a:xfrm>
          <a:prstGeom prst="rect">
            <a:avLst/>
          </a:prstGeom>
        </p:spPr>
      </p:pic>
      <p:pic>
        <p:nvPicPr>
          <p:cNvPr id="13" name="Picture 12" descr="comparison_r0_c3.png">
            <a:extLst>
              <a:ext uri="{FF2B5EF4-FFF2-40B4-BE49-F238E27FC236}">
                <a16:creationId xmlns:a16="http://schemas.microsoft.com/office/drawing/2014/main" id="{19F097D5-CA23-907A-B4E2-D18F59320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1998472"/>
            <a:ext cx="1188720" cy="11785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46858D-A447-7778-A43F-F218521AE789}"/>
              </a:ext>
            </a:extLst>
          </p:cNvPr>
          <p:cNvSpPr txBox="1"/>
          <p:nvPr/>
        </p:nvSpPr>
        <p:spPr>
          <a:xfrm>
            <a:off x="548640" y="3520439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 testo</a:t>
            </a:r>
          </a:p>
        </p:txBody>
      </p:sp>
      <p:pic>
        <p:nvPicPr>
          <p:cNvPr id="15" name="Picture 14" descr="comparison_r1_c0.png">
            <a:extLst>
              <a:ext uri="{FF2B5EF4-FFF2-40B4-BE49-F238E27FC236}">
                <a16:creationId xmlns:a16="http://schemas.microsoft.com/office/drawing/2014/main" id="{BD1FB8AE-193E-AA82-5D3C-A2EE99C97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3269488"/>
            <a:ext cx="1188720" cy="1178560"/>
          </a:xfrm>
          <a:prstGeom prst="rect">
            <a:avLst/>
          </a:prstGeom>
        </p:spPr>
      </p:pic>
      <p:pic>
        <p:nvPicPr>
          <p:cNvPr id="16" name="Picture 15" descr="comparison_r1_c1.png">
            <a:extLst>
              <a:ext uri="{FF2B5EF4-FFF2-40B4-BE49-F238E27FC236}">
                <a16:creationId xmlns:a16="http://schemas.microsoft.com/office/drawing/2014/main" id="{33CB478A-5C03-7BA1-7910-D72E3CF214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3269488"/>
            <a:ext cx="1188720" cy="1178560"/>
          </a:xfrm>
          <a:prstGeom prst="rect">
            <a:avLst/>
          </a:prstGeom>
        </p:spPr>
      </p:pic>
      <p:pic>
        <p:nvPicPr>
          <p:cNvPr id="17" name="Picture 16" descr="comparison_r1_c2.png">
            <a:extLst>
              <a:ext uri="{FF2B5EF4-FFF2-40B4-BE49-F238E27FC236}">
                <a16:creationId xmlns:a16="http://schemas.microsoft.com/office/drawing/2014/main" id="{C7969DF7-1DB0-B9B3-A7F4-1185CA4991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269488"/>
            <a:ext cx="1188720" cy="1178560"/>
          </a:xfrm>
          <a:prstGeom prst="rect">
            <a:avLst/>
          </a:prstGeom>
        </p:spPr>
      </p:pic>
      <p:pic>
        <p:nvPicPr>
          <p:cNvPr id="18" name="Picture 17" descr="comparison_r1_c3.png">
            <a:extLst>
              <a:ext uri="{FF2B5EF4-FFF2-40B4-BE49-F238E27FC236}">
                <a16:creationId xmlns:a16="http://schemas.microsoft.com/office/drawing/2014/main" id="{17F007AA-5148-3AC4-34C4-B60B4E55B8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3269488"/>
            <a:ext cx="1188720" cy="1178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8E4343-DB60-DB05-D3C5-80AD37B07A70}"/>
              </a:ext>
            </a:extLst>
          </p:cNvPr>
          <p:cNvSpPr txBox="1"/>
          <p:nvPr/>
        </p:nvSpPr>
        <p:spPr>
          <a:xfrm>
            <a:off x="548640" y="4791456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 i="0">
                <a:solidFill>
                  <a:srgbClr val="8052B8"/>
                </a:solidFill>
                <a:latin typeface="Times New Roman"/>
              </a:defRPr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Senza testo</a:t>
            </a:r>
          </a:p>
        </p:txBody>
      </p:sp>
      <p:pic>
        <p:nvPicPr>
          <p:cNvPr id="20" name="Picture 19" descr="comparison_r2_c0.png">
            <a:extLst>
              <a:ext uri="{FF2B5EF4-FFF2-40B4-BE49-F238E27FC236}">
                <a16:creationId xmlns:a16="http://schemas.microsoft.com/office/drawing/2014/main" id="{9FC8D9BA-CBA3-D542-5D75-34D714FA6B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272" y="4540504"/>
            <a:ext cx="1188720" cy="1178560"/>
          </a:xfrm>
          <a:prstGeom prst="rect">
            <a:avLst/>
          </a:prstGeom>
        </p:spPr>
      </p:pic>
      <p:pic>
        <p:nvPicPr>
          <p:cNvPr id="21" name="Picture 20" descr="comparison_r2_c1.png">
            <a:extLst>
              <a:ext uri="{FF2B5EF4-FFF2-40B4-BE49-F238E27FC236}">
                <a16:creationId xmlns:a16="http://schemas.microsoft.com/office/drawing/2014/main" id="{7EC92555-4684-5D77-245B-15BB98916D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560" y="4540504"/>
            <a:ext cx="1188720" cy="1178560"/>
          </a:xfrm>
          <a:prstGeom prst="rect">
            <a:avLst/>
          </a:prstGeom>
        </p:spPr>
      </p:pic>
      <p:pic>
        <p:nvPicPr>
          <p:cNvPr id="22" name="Picture 21" descr="comparison_r2_c2.png">
            <a:extLst>
              <a:ext uri="{FF2B5EF4-FFF2-40B4-BE49-F238E27FC236}">
                <a16:creationId xmlns:a16="http://schemas.microsoft.com/office/drawing/2014/main" id="{B315078D-709A-5956-B59A-CE6F366898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4540504"/>
            <a:ext cx="1188720" cy="1178560"/>
          </a:xfrm>
          <a:prstGeom prst="rect">
            <a:avLst/>
          </a:prstGeom>
        </p:spPr>
      </p:pic>
      <p:pic>
        <p:nvPicPr>
          <p:cNvPr id="23" name="Picture 22" descr="comparison_r2_c3.png">
            <a:extLst>
              <a:ext uri="{FF2B5EF4-FFF2-40B4-BE49-F238E27FC236}">
                <a16:creationId xmlns:a16="http://schemas.microsoft.com/office/drawing/2014/main" id="{A6764E72-3673-B044-E5B6-F6CB0AD208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9136" y="4540504"/>
            <a:ext cx="1188720" cy="1178560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CE19E11-153A-357F-64CC-2A9DA0359ADC}"/>
              </a:ext>
            </a:extLst>
          </p:cNvPr>
          <p:cNvSpPr/>
          <p:nvPr/>
        </p:nvSpPr>
        <p:spPr>
          <a:xfrm>
            <a:off x="10417719" y="3407088"/>
            <a:ext cx="1097280" cy="892044"/>
          </a:xfrm>
          <a:prstGeom prst="roundRect">
            <a:avLst>
              <a:gd name="adj" fmla="val 6000"/>
            </a:avLst>
          </a:prstGeom>
          <a:solidFill>
            <a:srgbClr val="F3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43D8F-AD33-0675-0AC2-324C0F5BE751}"/>
              </a:ext>
            </a:extLst>
          </p:cNvPr>
          <p:cNvSpPr txBox="1"/>
          <p:nvPr/>
        </p:nvSpPr>
        <p:spPr>
          <a:xfrm>
            <a:off x="10573167" y="3632409"/>
            <a:ext cx="109728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AB6331"/>
                </a:solidFill>
                <a:latin typeface="Times New Roman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Dettagli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AB6331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AB6331"/>
                </a:solidFill>
                <a:latin typeface="Times New Roman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imperfetti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AB6331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015FF6-A87A-7CC6-878D-61E7387D65CB}"/>
              </a:ext>
            </a:extLst>
          </p:cNvPr>
          <p:cNvSpPr txBox="1"/>
          <p:nvPr/>
        </p:nvSpPr>
        <p:spPr>
          <a:xfrm>
            <a:off x="594360" y="5989320"/>
            <a:ext cx="10881360" cy="295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Stesso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rumore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iniziale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seed 2026 · Solo il conditional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riceve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le caption.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66B089-57C9-8E9A-1100-E6B3C5048746}"/>
              </a:ext>
            </a:extLst>
          </p:cNvPr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/ 13</a:t>
            </a:r>
          </a:p>
        </p:txBody>
      </p:sp>
    </p:spTree>
    <p:extLst>
      <p:ext uri="{BB962C8B-B14F-4D97-AF65-F5344CB8AC3E}">
        <p14:creationId xmlns:p14="http://schemas.microsoft.com/office/powerpoint/2010/main" val="112590623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RISULTATI COMPOSIZIONALI OOD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OOD: valutare senza sovrainterpretare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ood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56231"/>
            <a:ext cx="1536192" cy="1426463"/>
          </a:xfrm>
          <a:prstGeom prst="rect">
            <a:avLst/>
          </a:prstGeom>
        </p:spPr>
      </p:pic>
      <p:pic>
        <p:nvPicPr>
          <p:cNvPr id="6" name="Picture 5" descr="oo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1856231"/>
            <a:ext cx="1536192" cy="1426463"/>
          </a:xfrm>
          <a:prstGeom prst="rect">
            <a:avLst/>
          </a:prstGeom>
        </p:spPr>
      </p:pic>
      <p:pic>
        <p:nvPicPr>
          <p:cNvPr id="7" name="Picture 6" descr="ood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57015"/>
            <a:ext cx="1536192" cy="1426463"/>
          </a:xfrm>
          <a:prstGeom prst="rect">
            <a:avLst/>
          </a:prstGeom>
        </p:spPr>
      </p:pic>
      <p:pic>
        <p:nvPicPr>
          <p:cNvPr id="8" name="Picture 7" descr="ood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3557015"/>
            <a:ext cx="1536192" cy="14264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04104"/>
            <a:ext cx="342900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face_shape = 3</a:t>
            </a:r>
          </a:p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hair_color =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755648"/>
            <a:ext cx="704088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53712" y="1755648"/>
            <a:ext cx="41148" cy="1261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0308" y="1934198"/>
            <a:ext cx="66476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Riferimento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incluso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93,75%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7899" y="2479729"/>
            <a:ext cx="6647688" cy="295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Match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completo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OOD: retrieval,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non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accuratezza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semantica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218688"/>
            <a:ext cx="7040880" cy="1261872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53712" y="3218688"/>
            <a:ext cx="41148" cy="1261872"/>
          </a:xfrm>
          <a:prstGeom prst="rect">
            <a:avLst/>
          </a:prstGeom>
          <a:solidFill>
            <a:srgbClr val="80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64024" y="3403293"/>
            <a:ext cx="66476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Coppia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OOD, leave-one-out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0308" y="3948824"/>
            <a:ext cx="6647688" cy="295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Generate: 57,81% · Reali: 56,25%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4681728"/>
            <a:ext cx="7040880" cy="1280160"/>
          </a:xfrm>
          <a:prstGeom prst="roundRect">
            <a:avLst>
              <a:gd name="adj" fmla="val 6000"/>
            </a:avLst>
          </a:prstGeom>
          <a:solidFill>
            <a:srgbClr val="F3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53712" y="4681728"/>
            <a:ext cx="41148" cy="1280160"/>
          </a:xfrm>
          <a:prstGeom prst="rect">
            <a:avLst/>
          </a:prstGeom>
          <a:solidFill>
            <a:srgbClr val="AB6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64024" y="4837176"/>
            <a:ext cx="6647688" cy="339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Match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completo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it-IT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leave</a:t>
            </a:r>
            <a:r>
              <a:rPr kumimoji="0" lang="it-IT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-one-out 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0%: </a:t>
            </a: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perché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0882" y="5250136"/>
            <a:ext cx="6647688" cy="609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Nessun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riferimento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completo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rimane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per le 128 query: 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limite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del banco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B1808-DB02-69B5-4510-5E93F04E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F83372-C280-DD3D-EE3C-483289F0018F}"/>
              </a:ext>
            </a:extLst>
          </p:cNvPr>
          <p:cNvSpPr txBox="1"/>
          <p:nvPr/>
        </p:nvSpPr>
        <p:spPr>
          <a:xfrm>
            <a:off x="438912" y="26517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 / VALUTAZIONE DEL CONDITIONING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6923E-DF29-2967-8A98-9BE76C98931D}"/>
              </a:ext>
            </a:extLst>
          </p:cNvPr>
          <p:cNvSpPr txBox="1"/>
          <p:nvPr/>
        </p:nvSpPr>
        <p:spPr>
          <a:xfrm>
            <a:off x="438912" y="758952"/>
            <a:ext cx="11247120" cy="47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Protocolli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di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valutazione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DECDDB9-D3E6-5EA4-386F-257ACC98FF67}"/>
              </a:ext>
            </a:extLst>
          </p:cNvPr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D703289-C2E8-29F0-C609-B5579E0A0E26}"/>
              </a:ext>
            </a:extLst>
          </p:cNvPr>
          <p:cNvSpPr/>
          <p:nvPr/>
        </p:nvSpPr>
        <p:spPr>
          <a:xfrm>
            <a:off x="548640" y="1737360"/>
            <a:ext cx="4135503" cy="466344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04EC3-8443-9EAB-1F57-7BEE05DB54EC}"/>
              </a:ext>
            </a:extLst>
          </p:cNvPr>
          <p:cNvSpPr txBox="1"/>
          <p:nvPr/>
        </p:nvSpPr>
        <p:spPr>
          <a:xfrm>
            <a:off x="640080" y="1837943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FFFFFF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Query e </a:t>
            </a: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protocollo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A3D2F-F12C-CBDE-1D47-9824D65B0E78}"/>
              </a:ext>
            </a:extLst>
          </p:cNvPr>
          <p:cNvSpPr/>
          <p:nvPr/>
        </p:nvSpPr>
        <p:spPr>
          <a:xfrm>
            <a:off x="4684142" y="1737360"/>
            <a:ext cx="1670934" cy="466344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E3E59-9F30-3CAD-1683-50B9A5E214BB}"/>
              </a:ext>
            </a:extLst>
          </p:cNvPr>
          <p:cNvSpPr txBox="1"/>
          <p:nvPr/>
        </p:nvSpPr>
        <p:spPr>
          <a:xfrm>
            <a:off x="4896612" y="1848874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FFFFFF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Split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26C06-16FB-552D-C535-35C5255A2434}"/>
              </a:ext>
            </a:extLst>
          </p:cNvPr>
          <p:cNvSpPr/>
          <p:nvPr/>
        </p:nvSpPr>
        <p:spPr>
          <a:xfrm>
            <a:off x="6355077" y="1737360"/>
            <a:ext cx="1828800" cy="466344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9B0F0-A58A-16FD-37FF-FA2196387231}"/>
              </a:ext>
            </a:extLst>
          </p:cNvPr>
          <p:cNvSpPr txBox="1"/>
          <p:nvPr/>
        </p:nvSpPr>
        <p:spPr>
          <a:xfrm>
            <a:off x="6446516" y="1837943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FFFFFF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Match </a:t>
            </a: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attr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A5732A-EE39-367E-DA6D-675D55691CF5}"/>
              </a:ext>
            </a:extLst>
          </p:cNvPr>
          <p:cNvSpPr/>
          <p:nvPr/>
        </p:nvSpPr>
        <p:spPr>
          <a:xfrm>
            <a:off x="8183878" y="1737360"/>
            <a:ext cx="1691641" cy="466344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58581-77A1-250E-936A-CD9735E0DAC8}"/>
              </a:ext>
            </a:extLst>
          </p:cNvPr>
          <p:cNvSpPr txBox="1"/>
          <p:nvPr/>
        </p:nvSpPr>
        <p:spPr>
          <a:xfrm>
            <a:off x="8092440" y="1837943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FFFFFF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Tutti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1E1D6-5577-0373-280D-FA1C59001921}"/>
              </a:ext>
            </a:extLst>
          </p:cNvPr>
          <p:cNvSpPr/>
          <p:nvPr/>
        </p:nvSpPr>
        <p:spPr>
          <a:xfrm>
            <a:off x="9875518" y="1737360"/>
            <a:ext cx="1737361" cy="466344"/>
          </a:xfrm>
          <a:prstGeom prst="rect">
            <a:avLst/>
          </a:prstGeom>
          <a:solidFill>
            <a:srgbClr val="17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B09529-BAAD-FBC5-D030-4EA4AB402129}"/>
              </a:ext>
            </a:extLst>
          </p:cNvPr>
          <p:cNvSpPr txBox="1"/>
          <p:nvPr/>
        </p:nvSpPr>
        <p:spPr>
          <a:xfrm>
            <a:off x="9875519" y="1837943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FFFFFF"/>
                </a:solidFill>
                <a:latin typeface="Times New Roman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Coppia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0E342-F218-6D5D-342F-732E909B4642}"/>
              </a:ext>
            </a:extLst>
          </p:cNvPr>
          <p:cNvSpPr/>
          <p:nvPr/>
        </p:nvSpPr>
        <p:spPr>
          <a:xfrm>
            <a:off x="548640" y="2203704"/>
            <a:ext cx="4135503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0D93F-205E-BEDB-43A2-02E75DE42FE7}"/>
              </a:ext>
            </a:extLst>
          </p:cNvPr>
          <p:cNvSpPr txBox="1"/>
          <p:nvPr/>
        </p:nvSpPr>
        <p:spPr>
          <a:xfrm>
            <a:off x="640080" y="2304288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Generate ·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rif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incluso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933DE0-64B4-DD88-18FB-74A546B47899}"/>
              </a:ext>
            </a:extLst>
          </p:cNvPr>
          <p:cNvSpPr/>
          <p:nvPr/>
        </p:nvSpPr>
        <p:spPr>
          <a:xfrm>
            <a:off x="4684142" y="2203704"/>
            <a:ext cx="167093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7E71C-EE79-075B-6ACB-28D57C19288E}"/>
              </a:ext>
            </a:extLst>
          </p:cNvPr>
          <p:cNvSpPr txBox="1"/>
          <p:nvPr/>
        </p:nvSpPr>
        <p:spPr>
          <a:xfrm>
            <a:off x="4935603" y="2331887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B32A1B-9725-DAD6-0E34-22E2AECDA40D}"/>
              </a:ext>
            </a:extLst>
          </p:cNvPr>
          <p:cNvSpPr/>
          <p:nvPr/>
        </p:nvSpPr>
        <p:spPr>
          <a:xfrm>
            <a:off x="6355077" y="2203704"/>
            <a:ext cx="1828800" cy="4615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46BEF1-2F2B-95B1-35C8-2BAFD14158EF}"/>
              </a:ext>
            </a:extLst>
          </p:cNvPr>
          <p:cNvSpPr txBox="1"/>
          <p:nvPr/>
        </p:nvSpPr>
        <p:spPr>
          <a:xfrm>
            <a:off x="6434013" y="2315219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100,00%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E349A8-6CFE-5F1F-5603-8678F205BBF5}"/>
              </a:ext>
            </a:extLst>
          </p:cNvPr>
          <p:cNvSpPr/>
          <p:nvPr/>
        </p:nvSpPr>
        <p:spPr>
          <a:xfrm>
            <a:off x="8183878" y="2203704"/>
            <a:ext cx="1691641" cy="4615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2781D5-44FF-E5FB-FEB1-FC363E92F90C}"/>
              </a:ext>
            </a:extLst>
          </p:cNvPr>
          <p:cNvSpPr txBox="1"/>
          <p:nvPr/>
        </p:nvSpPr>
        <p:spPr>
          <a:xfrm>
            <a:off x="8229597" y="2331887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100,00%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8946C-AC73-0387-2DBE-1A408A543442}"/>
              </a:ext>
            </a:extLst>
          </p:cNvPr>
          <p:cNvSpPr/>
          <p:nvPr/>
        </p:nvSpPr>
        <p:spPr>
          <a:xfrm>
            <a:off x="9875518" y="2203704"/>
            <a:ext cx="1737361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B78152-BE88-EB60-0C4B-A30BBAF67EFF}"/>
              </a:ext>
            </a:extLst>
          </p:cNvPr>
          <p:cNvSpPr txBox="1"/>
          <p:nvPr/>
        </p:nvSpPr>
        <p:spPr>
          <a:xfrm>
            <a:off x="9875519" y="2304288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100,00%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6AD1A0-4B61-8D83-A8BD-D381E9D2F15E}"/>
              </a:ext>
            </a:extLst>
          </p:cNvPr>
          <p:cNvSpPr/>
          <p:nvPr/>
        </p:nvSpPr>
        <p:spPr>
          <a:xfrm>
            <a:off x="548640" y="2670048"/>
            <a:ext cx="4135503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37E8CA-B6E5-0F3C-624C-8F627F10A08B}"/>
              </a:ext>
            </a:extLst>
          </p:cNvPr>
          <p:cNvSpPr txBox="1"/>
          <p:nvPr/>
        </p:nvSpPr>
        <p:spPr>
          <a:xfrm>
            <a:off x="640080" y="2770632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Generate ·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rif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incluso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252F9E-6EC4-2710-BFF1-D4A64E67F357}"/>
              </a:ext>
            </a:extLst>
          </p:cNvPr>
          <p:cNvSpPr/>
          <p:nvPr/>
        </p:nvSpPr>
        <p:spPr>
          <a:xfrm>
            <a:off x="4684141" y="2670048"/>
            <a:ext cx="1670935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89BD7-2716-8CD3-5BAF-7F60D40ACDBA}"/>
              </a:ext>
            </a:extLst>
          </p:cNvPr>
          <p:cNvSpPr txBox="1"/>
          <p:nvPr/>
        </p:nvSpPr>
        <p:spPr>
          <a:xfrm>
            <a:off x="4935603" y="2798231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82AF6E-B55F-BF59-43F0-DBB01776F640}"/>
              </a:ext>
            </a:extLst>
          </p:cNvPr>
          <p:cNvSpPr/>
          <p:nvPr/>
        </p:nvSpPr>
        <p:spPr>
          <a:xfrm>
            <a:off x="6355077" y="2665282"/>
            <a:ext cx="1828800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947228-7072-271A-B8D7-6D1E29CDE7C9}"/>
              </a:ext>
            </a:extLst>
          </p:cNvPr>
          <p:cNvSpPr txBox="1"/>
          <p:nvPr/>
        </p:nvSpPr>
        <p:spPr>
          <a:xfrm>
            <a:off x="6434013" y="2781563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96,68%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DF5C64-20D8-FA7B-73E0-8BF70A2D8120}"/>
              </a:ext>
            </a:extLst>
          </p:cNvPr>
          <p:cNvSpPr/>
          <p:nvPr/>
        </p:nvSpPr>
        <p:spPr>
          <a:xfrm>
            <a:off x="8183878" y="2665282"/>
            <a:ext cx="169164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22BA9-48D1-D406-1C21-DE2B7C462CEB}"/>
              </a:ext>
            </a:extLst>
          </p:cNvPr>
          <p:cNvSpPr txBox="1"/>
          <p:nvPr/>
        </p:nvSpPr>
        <p:spPr>
          <a:xfrm>
            <a:off x="8229597" y="2798231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93,75%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61424E-8BD4-FD72-3AC4-5C61E32F36E9}"/>
              </a:ext>
            </a:extLst>
          </p:cNvPr>
          <p:cNvSpPr/>
          <p:nvPr/>
        </p:nvSpPr>
        <p:spPr>
          <a:xfrm>
            <a:off x="9875518" y="2670048"/>
            <a:ext cx="173736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753D31-1193-3182-AA74-9D8E73A38B97}"/>
              </a:ext>
            </a:extLst>
          </p:cNvPr>
          <p:cNvSpPr txBox="1"/>
          <p:nvPr/>
        </p:nvSpPr>
        <p:spPr>
          <a:xfrm>
            <a:off x="9875519" y="2770632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98,44%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04388A-9E34-9D58-9E5B-16926C857012}"/>
              </a:ext>
            </a:extLst>
          </p:cNvPr>
          <p:cNvSpPr/>
          <p:nvPr/>
        </p:nvSpPr>
        <p:spPr>
          <a:xfrm>
            <a:off x="548640" y="3136391"/>
            <a:ext cx="4135503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0AA2F4-E179-48C3-40A5-360AEC024E66}"/>
              </a:ext>
            </a:extLst>
          </p:cNvPr>
          <p:cNvSpPr txBox="1"/>
          <p:nvPr/>
        </p:nvSpPr>
        <p:spPr>
          <a:xfrm>
            <a:off x="640080" y="3236975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Generate · leave-one-out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D1B80E-6154-F0F7-EDA3-4A4C1F1697A0}"/>
              </a:ext>
            </a:extLst>
          </p:cNvPr>
          <p:cNvSpPr/>
          <p:nvPr/>
        </p:nvSpPr>
        <p:spPr>
          <a:xfrm>
            <a:off x="4684142" y="3136391"/>
            <a:ext cx="167093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D481A3-D6DD-965D-016C-4C0C1AF450E0}"/>
              </a:ext>
            </a:extLst>
          </p:cNvPr>
          <p:cNvSpPr txBox="1"/>
          <p:nvPr/>
        </p:nvSpPr>
        <p:spPr>
          <a:xfrm>
            <a:off x="4935603" y="3264574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4F362F-BBDD-F575-9116-9E1385D033E9}"/>
              </a:ext>
            </a:extLst>
          </p:cNvPr>
          <p:cNvSpPr/>
          <p:nvPr/>
        </p:nvSpPr>
        <p:spPr>
          <a:xfrm>
            <a:off x="6355077" y="3131625"/>
            <a:ext cx="18288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0ECCCF-7DC5-176A-C64D-4C325D619C14}"/>
              </a:ext>
            </a:extLst>
          </p:cNvPr>
          <p:cNvSpPr txBox="1"/>
          <p:nvPr/>
        </p:nvSpPr>
        <p:spPr>
          <a:xfrm>
            <a:off x="6434013" y="3247906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32,23%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DEF20F-3489-A945-CD29-324010B70B7B}"/>
              </a:ext>
            </a:extLst>
          </p:cNvPr>
          <p:cNvSpPr/>
          <p:nvPr/>
        </p:nvSpPr>
        <p:spPr>
          <a:xfrm>
            <a:off x="8183878" y="3131625"/>
            <a:ext cx="1691641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60BD62-341B-45FD-A2BF-C9731A83D2DB}"/>
              </a:ext>
            </a:extLst>
          </p:cNvPr>
          <p:cNvSpPr txBox="1"/>
          <p:nvPr/>
        </p:nvSpPr>
        <p:spPr>
          <a:xfrm>
            <a:off x="8229597" y="3264574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735B04-52EF-7A04-3694-78CC8DF036FD}"/>
              </a:ext>
            </a:extLst>
          </p:cNvPr>
          <p:cNvSpPr/>
          <p:nvPr/>
        </p:nvSpPr>
        <p:spPr>
          <a:xfrm>
            <a:off x="9875518" y="3136391"/>
            <a:ext cx="1737361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D27AE4-C070-0837-ACB4-43E0D54787EE}"/>
              </a:ext>
            </a:extLst>
          </p:cNvPr>
          <p:cNvSpPr txBox="1"/>
          <p:nvPr/>
        </p:nvSpPr>
        <p:spPr>
          <a:xfrm>
            <a:off x="9875519" y="3236975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3,13%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390ACD-8CC3-D866-8F8E-FCB3ECC89B4E}"/>
              </a:ext>
            </a:extLst>
          </p:cNvPr>
          <p:cNvSpPr/>
          <p:nvPr/>
        </p:nvSpPr>
        <p:spPr>
          <a:xfrm>
            <a:off x="548640" y="3602736"/>
            <a:ext cx="4135503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B59A47-1E2D-423C-E0B6-77215DE1544A}"/>
              </a:ext>
            </a:extLst>
          </p:cNvPr>
          <p:cNvSpPr txBox="1"/>
          <p:nvPr/>
        </p:nvSpPr>
        <p:spPr>
          <a:xfrm>
            <a:off x="640080" y="370332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Generate · leave-one-out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3155DA-C723-7FF0-01BF-54EBC31FE2DA}"/>
              </a:ext>
            </a:extLst>
          </p:cNvPr>
          <p:cNvSpPr/>
          <p:nvPr/>
        </p:nvSpPr>
        <p:spPr>
          <a:xfrm>
            <a:off x="4684141" y="3602736"/>
            <a:ext cx="1670935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842FCD-18F4-0817-458B-6F8FC1F6E315}"/>
              </a:ext>
            </a:extLst>
          </p:cNvPr>
          <p:cNvSpPr txBox="1"/>
          <p:nvPr/>
        </p:nvSpPr>
        <p:spPr>
          <a:xfrm>
            <a:off x="4935603" y="3730919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91C2CD-B205-E715-8E21-3CDB3D2D634D}"/>
              </a:ext>
            </a:extLst>
          </p:cNvPr>
          <p:cNvSpPr/>
          <p:nvPr/>
        </p:nvSpPr>
        <p:spPr>
          <a:xfrm>
            <a:off x="6355077" y="3597970"/>
            <a:ext cx="1828800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F0D0C4-6049-BE4F-F893-21A5696B6561}"/>
              </a:ext>
            </a:extLst>
          </p:cNvPr>
          <p:cNvSpPr txBox="1"/>
          <p:nvPr/>
        </p:nvSpPr>
        <p:spPr>
          <a:xfrm>
            <a:off x="6434013" y="3714251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43,36%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3AF39C-51C1-7DAC-4C37-F2D3D69FED08}"/>
              </a:ext>
            </a:extLst>
          </p:cNvPr>
          <p:cNvSpPr/>
          <p:nvPr/>
        </p:nvSpPr>
        <p:spPr>
          <a:xfrm>
            <a:off x="8183878" y="3597970"/>
            <a:ext cx="169164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5960B4-6E20-9B5E-ECF1-053A51209FBA}"/>
              </a:ext>
            </a:extLst>
          </p:cNvPr>
          <p:cNvSpPr txBox="1"/>
          <p:nvPr/>
        </p:nvSpPr>
        <p:spPr>
          <a:xfrm>
            <a:off x="8229597" y="3730919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513FE9-3C3A-F9EA-74EC-E8C06CB9C703}"/>
              </a:ext>
            </a:extLst>
          </p:cNvPr>
          <p:cNvSpPr/>
          <p:nvPr/>
        </p:nvSpPr>
        <p:spPr>
          <a:xfrm>
            <a:off x="9875518" y="3602736"/>
            <a:ext cx="173736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5EF7AC-C0B0-E526-58C8-EDE27EA8DB5F}"/>
              </a:ext>
            </a:extLst>
          </p:cNvPr>
          <p:cNvSpPr txBox="1"/>
          <p:nvPr/>
        </p:nvSpPr>
        <p:spPr>
          <a:xfrm>
            <a:off x="9875519" y="3703320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57,81%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A40B96-7C64-63C7-0C08-0346B863FC60}"/>
              </a:ext>
            </a:extLst>
          </p:cNvPr>
          <p:cNvSpPr/>
          <p:nvPr/>
        </p:nvSpPr>
        <p:spPr>
          <a:xfrm>
            <a:off x="548640" y="4069079"/>
            <a:ext cx="4135503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15478E-7EE2-2E5A-6A95-611D6EA692FA}"/>
              </a:ext>
            </a:extLst>
          </p:cNvPr>
          <p:cNvSpPr txBox="1"/>
          <p:nvPr/>
        </p:nvSpPr>
        <p:spPr>
          <a:xfrm>
            <a:off x="640080" y="4169663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Reali · leave-one-out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BE0260-E476-A8DA-2E2C-4072E7042275}"/>
              </a:ext>
            </a:extLst>
          </p:cNvPr>
          <p:cNvSpPr/>
          <p:nvPr/>
        </p:nvSpPr>
        <p:spPr>
          <a:xfrm>
            <a:off x="4684142" y="4069079"/>
            <a:ext cx="167093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AE89E6-C7D9-FA74-E5F0-FCEF8B6D8005}"/>
              </a:ext>
            </a:extLst>
          </p:cNvPr>
          <p:cNvSpPr txBox="1"/>
          <p:nvPr/>
        </p:nvSpPr>
        <p:spPr>
          <a:xfrm>
            <a:off x="4935603" y="4197262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C3F298-E45C-AE75-7F13-5E384BEED153}"/>
              </a:ext>
            </a:extLst>
          </p:cNvPr>
          <p:cNvSpPr/>
          <p:nvPr/>
        </p:nvSpPr>
        <p:spPr>
          <a:xfrm>
            <a:off x="6355077" y="4064313"/>
            <a:ext cx="18288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1B8FDE-B57A-5C65-0BEA-B587288A385F}"/>
              </a:ext>
            </a:extLst>
          </p:cNvPr>
          <p:cNvSpPr txBox="1"/>
          <p:nvPr/>
        </p:nvSpPr>
        <p:spPr>
          <a:xfrm>
            <a:off x="6434013" y="4180594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31,84%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33BC04-B5AD-1A2E-2C72-F0604CB7A53A}"/>
              </a:ext>
            </a:extLst>
          </p:cNvPr>
          <p:cNvSpPr/>
          <p:nvPr/>
        </p:nvSpPr>
        <p:spPr>
          <a:xfrm>
            <a:off x="8183878" y="4064313"/>
            <a:ext cx="1691641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129EAC-A4CE-1B8F-462F-1ED65984A793}"/>
              </a:ext>
            </a:extLst>
          </p:cNvPr>
          <p:cNvSpPr txBox="1"/>
          <p:nvPr/>
        </p:nvSpPr>
        <p:spPr>
          <a:xfrm>
            <a:off x="8229597" y="4197262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54563B8-D75F-1EB9-4325-F5EDC0CA0352}"/>
              </a:ext>
            </a:extLst>
          </p:cNvPr>
          <p:cNvSpPr/>
          <p:nvPr/>
        </p:nvSpPr>
        <p:spPr>
          <a:xfrm>
            <a:off x="9875518" y="4069079"/>
            <a:ext cx="1737361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DAF064-2948-BC9C-4A4A-F57BCD2E5ABE}"/>
              </a:ext>
            </a:extLst>
          </p:cNvPr>
          <p:cNvSpPr txBox="1"/>
          <p:nvPr/>
        </p:nvSpPr>
        <p:spPr>
          <a:xfrm>
            <a:off x="9875519" y="4169663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4,69%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0CDEF68-38D3-389D-01B1-EDFEE48F7262}"/>
              </a:ext>
            </a:extLst>
          </p:cNvPr>
          <p:cNvSpPr/>
          <p:nvPr/>
        </p:nvSpPr>
        <p:spPr>
          <a:xfrm>
            <a:off x="548640" y="4535424"/>
            <a:ext cx="4135503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CC04A9-8032-1D6B-1D88-6D0CF1BFAF31}"/>
              </a:ext>
            </a:extLst>
          </p:cNvPr>
          <p:cNvSpPr txBox="1"/>
          <p:nvPr/>
        </p:nvSpPr>
        <p:spPr>
          <a:xfrm>
            <a:off x="640080" y="4636008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Reali · leave-one-out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7A1875D-5769-D179-C5BE-BC4B506827A7}"/>
              </a:ext>
            </a:extLst>
          </p:cNvPr>
          <p:cNvSpPr/>
          <p:nvPr/>
        </p:nvSpPr>
        <p:spPr>
          <a:xfrm>
            <a:off x="4684142" y="4535424"/>
            <a:ext cx="1670935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0D4711-D530-0EBC-C5FE-179D6507ED8B}"/>
              </a:ext>
            </a:extLst>
          </p:cNvPr>
          <p:cNvSpPr txBox="1"/>
          <p:nvPr/>
        </p:nvSpPr>
        <p:spPr>
          <a:xfrm>
            <a:off x="4935603" y="4663607"/>
            <a:ext cx="11430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9964934-3591-E3C9-CE8C-F2F9293A3BD1}"/>
              </a:ext>
            </a:extLst>
          </p:cNvPr>
          <p:cNvSpPr/>
          <p:nvPr/>
        </p:nvSpPr>
        <p:spPr>
          <a:xfrm>
            <a:off x="6355077" y="4530658"/>
            <a:ext cx="1828800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4012EB-0D1D-6F25-401C-272529CD73C8}"/>
              </a:ext>
            </a:extLst>
          </p:cNvPr>
          <p:cNvSpPr txBox="1"/>
          <p:nvPr/>
        </p:nvSpPr>
        <p:spPr>
          <a:xfrm>
            <a:off x="6434013" y="4646939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42,38%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C0EBCC2-9A64-8223-E3BA-05A0EBE79A65}"/>
              </a:ext>
            </a:extLst>
          </p:cNvPr>
          <p:cNvSpPr/>
          <p:nvPr/>
        </p:nvSpPr>
        <p:spPr>
          <a:xfrm>
            <a:off x="8183878" y="4530658"/>
            <a:ext cx="169164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F39C5D-15CC-221E-0993-4BBF8E164921}"/>
              </a:ext>
            </a:extLst>
          </p:cNvPr>
          <p:cNvSpPr txBox="1"/>
          <p:nvPr/>
        </p:nvSpPr>
        <p:spPr>
          <a:xfrm>
            <a:off x="8229597" y="4663607"/>
            <a:ext cx="160020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0,00%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B3D0BA9-ABE5-8C5C-C455-9EA97D7109CA}"/>
              </a:ext>
            </a:extLst>
          </p:cNvPr>
          <p:cNvSpPr/>
          <p:nvPr/>
        </p:nvSpPr>
        <p:spPr>
          <a:xfrm>
            <a:off x="9875518" y="4535424"/>
            <a:ext cx="1737361" cy="466344"/>
          </a:xfrm>
          <a:prstGeom prst="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1BECFA-6B78-9A2A-212D-C346FC3EF25B}"/>
              </a:ext>
            </a:extLst>
          </p:cNvPr>
          <p:cNvSpPr txBox="1"/>
          <p:nvPr/>
        </p:nvSpPr>
        <p:spPr>
          <a:xfrm>
            <a:off x="9875519" y="4636008"/>
            <a:ext cx="1645920" cy="266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173349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56,25%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361D9B-9561-989E-A218-6DAA04A39A82}"/>
              </a:ext>
            </a:extLst>
          </p:cNvPr>
          <p:cNvSpPr txBox="1"/>
          <p:nvPr/>
        </p:nvSpPr>
        <p:spPr>
          <a:xfrm>
            <a:off x="612648" y="5239512"/>
            <a:ext cx="1097280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Banco: 656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riferimenti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 64 query per split ·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Coppia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face_shape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hair_color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597AA7-695D-73B1-A124-425429F67B66}"/>
              </a:ext>
            </a:extLst>
          </p:cNvPr>
          <p:cNvSpPr txBox="1"/>
          <p:nvPr/>
        </p:nvSpPr>
        <p:spPr>
          <a:xfrm>
            <a:off x="612648" y="5715000"/>
            <a:ext cx="10972800" cy="548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KID: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TorchMetrics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1.9.0 · Inception solo per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valutazione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· 64 + 64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immagini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526675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100 subset da 50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immagini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· seed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generazione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3107 · std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subset non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training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4C8C0A-C27A-874C-8580-89E137257390}"/>
              </a:ext>
            </a:extLst>
          </p:cNvPr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11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148811360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diversi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variazioni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contenute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61872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7096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627632"/>
            <a:ext cx="859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Seed 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93976"/>
            <a:ext cx="758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Ord. 1</a:t>
            </a:r>
          </a:p>
        </p:txBody>
      </p:sp>
      <p:pic>
        <p:nvPicPr>
          <p:cNvPr id="12" name="Picture 11" descr="diversity_r0_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993392"/>
            <a:ext cx="859535" cy="859535"/>
          </a:xfrm>
          <a:prstGeom prst="rect">
            <a:avLst/>
          </a:prstGeom>
        </p:spPr>
      </p:pic>
      <p:pic>
        <p:nvPicPr>
          <p:cNvPr id="13" name="Picture 12" descr="diversity_r0_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1993392"/>
            <a:ext cx="859535" cy="859535"/>
          </a:xfrm>
          <a:prstGeom prst="rect">
            <a:avLst/>
          </a:prstGeom>
        </p:spPr>
      </p:pic>
      <p:pic>
        <p:nvPicPr>
          <p:cNvPr id="14" name="Picture 13" descr="diversity_r0_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993392"/>
            <a:ext cx="859535" cy="859535"/>
          </a:xfrm>
          <a:prstGeom prst="rect">
            <a:avLst/>
          </a:prstGeom>
        </p:spPr>
      </p:pic>
      <p:pic>
        <p:nvPicPr>
          <p:cNvPr id="15" name="Picture 14" descr="diversity_r0_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1993392"/>
            <a:ext cx="859535" cy="859535"/>
          </a:xfrm>
          <a:prstGeom prst="rect">
            <a:avLst/>
          </a:prstGeom>
        </p:spPr>
      </p:pic>
      <p:pic>
        <p:nvPicPr>
          <p:cNvPr id="16" name="Picture 15" descr="diversity_r0_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4" y="1993392"/>
            <a:ext cx="859535" cy="859535"/>
          </a:xfrm>
          <a:prstGeom prst="rect">
            <a:avLst/>
          </a:prstGeom>
        </p:spPr>
      </p:pic>
      <p:pic>
        <p:nvPicPr>
          <p:cNvPr id="17" name="Picture 16" descr="diversity_r0_c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1993392"/>
            <a:ext cx="859535" cy="8595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" y="3072384"/>
            <a:ext cx="758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087F8C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Ord. 2</a:t>
            </a:r>
          </a:p>
        </p:txBody>
      </p:sp>
      <p:pic>
        <p:nvPicPr>
          <p:cNvPr id="19" name="Picture 18" descr="diversity_r1_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72" y="2971800"/>
            <a:ext cx="859535" cy="859535"/>
          </a:xfrm>
          <a:prstGeom prst="rect">
            <a:avLst/>
          </a:prstGeom>
        </p:spPr>
      </p:pic>
      <p:pic>
        <p:nvPicPr>
          <p:cNvPr id="20" name="Picture 19" descr="diversity_r1_c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280" y="2971800"/>
            <a:ext cx="859535" cy="859535"/>
          </a:xfrm>
          <a:prstGeom prst="rect">
            <a:avLst/>
          </a:prstGeom>
        </p:spPr>
      </p:pic>
      <p:pic>
        <p:nvPicPr>
          <p:cNvPr id="21" name="Picture 20" descr="diversity_r1_c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8688" y="2971800"/>
            <a:ext cx="859535" cy="859535"/>
          </a:xfrm>
          <a:prstGeom prst="rect">
            <a:avLst/>
          </a:prstGeom>
        </p:spPr>
      </p:pic>
      <p:pic>
        <p:nvPicPr>
          <p:cNvPr id="22" name="Picture 21" descr="diversity_r1_c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7096" y="2971800"/>
            <a:ext cx="859535" cy="859535"/>
          </a:xfrm>
          <a:prstGeom prst="rect">
            <a:avLst/>
          </a:prstGeom>
        </p:spPr>
      </p:pic>
      <p:pic>
        <p:nvPicPr>
          <p:cNvPr id="23" name="Picture 22" descr="diversity_r1_c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5504" y="2971800"/>
            <a:ext cx="859535" cy="859535"/>
          </a:xfrm>
          <a:prstGeom prst="rect">
            <a:avLst/>
          </a:prstGeom>
        </p:spPr>
      </p:pic>
      <p:pic>
        <p:nvPicPr>
          <p:cNvPr id="24" name="Picture 23" descr="diversity_r1_c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3912" y="2971800"/>
            <a:ext cx="859535" cy="85953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4" y="4050791"/>
            <a:ext cx="758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AB6331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 1</a:t>
            </a:r>
          </a:p>
        </p:txBody>
      </p:sp>
      <p:pic>
        <p:nvPicPr>
          <p:cNvPr id="26" name="Picture 25" descr="diversity_r2_c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1872" y="3950208"/>
            <a:ext cx="859535" cy="859535"/>
          </a:xfrm>
          <a:prstGeom prst="rect">
            <a:avLst/>
          </a:prstGeom>
        </p:spPr>
      </p:pic>
      <p:pic>
        <p:nvPicPr>
          <p:cNvPr id="27" name="Picture 26" descr="diversity_r2_c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0280" y="3950208"/>
            <a:ext cx="859535" cy="859535"/>
          </a:xfrm>
          <a:prstGeom prst="rect">
            <a:avLst/>
          </a:prstGeom>
        </p:spPr>
      </p:pic>
      <p:pic>
        <p:nvPicPr>
          <p:cNvPr id="28" name="Picture 27" descr="diversity_r2_c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18688" y="3950208"/>
            <a:ext cx="859535" cy="859535"/>
          </a:xfrm>
          <a:prstGeom prst="rect">
            <a:avLst/>
          </a:prstGeom>
        </p:spPr>
      </p:pic>
      <p:pic>
        <p:nvPicPr>
          <p:cNvPr id="29" name="Picture 28" descr="diversity_r2_c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7096" y="3950208"/>
            <a:ext cx="859535" cy="859535"/>
          </a:xfrm>
          <a:prstGeom prst="rect">
            <a:avLst/>
          </a:prstGeom>
        </p:spPr>
      </p:pic>
      <p:pic>
        <p:nvPicPr>
          <p:cNvPr id="30" name="Picture 29" descr="diversity_r2_c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75504" y="3950208"/>
            <a:ext cx="859535" cy="859535"/>
          </a:xfrm>
          <a:prstGeom prst="rect">
            <a:avLst/>
          </a:prstGeom>
        </p:spPr>
      </p:pic>
      <p:pic>
        <p:nvPicPr>
          <p:cNvPr id="31" name="Picture 30" descr="diversity_r2_c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53912" y="3950208"/>
            <a:ext cx="859535" cy="85953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2064" y="5029200"/>
            <a:ext cx="758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00" b="1" i="0">
                <a:solidFill>
                  <a:srgbClr val="AB6331"/>
                </a:solidFill>
                <a:latin typeface="Times New Roman"/>
              </a:defRPr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 2</a:t>
            </a:r>
          </a:p>
        </p:txBody>
      </p:sp>
      <p:pic>
        <p:nvPicPr>
          <p:cNvPr id="33" name="Picture 32" descr="diversity_r3_c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61872" y="4928616"/>
            <a:ext cx="859535" cy="859535"/>
          </a:xfrm>
          <a:prstGeom prst="rect">
            <a:avLst/>
          </a:prstGeom>
        </p:spPr>
      </p:pic>
      <p:pic>
        <p:nvPicPr>
          <p:cNvPr id="34" name="Picture 33" descr="diversity_r3_c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40280" y="4928616"/>
            <a:ext cx="859535" cy="859535"/>
          </a:xfrm>
          <a:prstGeom prst="rect">
            <a:avLst/>
          </a:prstGeom>
        </p:spPr>
      </p:pic>
      <p:pic>
        <p:nvPicPr>
          <p:cNvPr id="35" name="Picture 34" descr="diversity_r3_c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18688" y="4928616"/>
            <a:ext cx="859535" cy="859535"/>
          </a:xfrm>
          <a:prstGeom prst="rect">
            <a:avLst/>
          </a:prstGeom>
        </p:spPr>
      </p:pic>
      <p:pic>
        <p:nvPicPr>
          <p:cNvPr id="36" name="Picture 35" descr="diversity_r3_c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7096" y="4928616"/>
            <a:ext cx="859535" cy="859535"/>
          </a:xfrm>
          <a:prstGeom prst="rect">
            <a:avLst/>
          </a:prstGeom>
        </p:spPr>
      </p:pic>
      <p:pic>
        <p:nvPicPr>
          <p:cNvPr id="37" name="Picture 36" descr="diversity_r3_c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75504" y="4928616"/>
            <a:ext cx="859535" cy="859535"/>
          </a:xfrm>
          <a:prstGeom prst="rect">
            <a:avLst/>
          </a:prstGeom>
        </p:spPr>
      </p:pic>
      <p:pic>
        <p:nvPicPr>
          <p:cNvPr id="38" name="Picture 37" descr="diversity_r3_c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53912" y="4928616"/>
            <a:ext cx="859535" cy="85953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543800" y="1874519"/>
            <a:ext cx="40233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543800" y="1874519"/>
            <a:ext cx="41148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54112" y="2080260"/>
            <a:ext cx="3630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 prompt × 6 seed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2532887"/>
            <a:ext cx="3630168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60 confronti intra-prompt</a:t>
            </a: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RMSE e MAE sui pixel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3648456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543800" y="3648456"/>
            <a:ext cx="41148" cy="1783080"/>
          </a:xfrm>
          <a:prstGeom prst="rect">
            <a:avLst/>
          </a:prstGeom>
          <a:solidFill>
            <a:srgbClr val="80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60970" y="3851288"/>
            <a:ext cx="3630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RMSE medio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60970" y="4344232"/>
            <a:ext cx="3630168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Ordinary: 0,041697</a:t>
            </a:r>
          </a:p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OOD: 0,027420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071616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1">
                <a:solidFill>
                  <a:srgbClr val="AB6331"/>
                </a:solidFill>
                <a:latin typeface="Times New Roman"/>
              </a:defRPr>
            </a:pPr>
            <a:r>
              <a:rPr kumimoji="0" sz="2000" b="0" i="1" u="none" strike="noStrike" kern="1200" cap="none" spc="0" normalizeH="0" baseline="0" noProof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Variabilità limitata nel campione; non basta per diagnosticare un mode collapse.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12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2483E7E2-3337-95C5-1737-712F90FE4D30}"/>
              </a:ext>
            </a:extLst>
          </p:cNvPr>
          <p:cNvSpPr txBox="1"/>
          <p:nvPr/>
        </p:nvSpPr>
        <p:spPr>
          <a:xfrm>
            <a:off x="438912" y="265176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11 / DIVERSITY A PROMPT FISSO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65176"/>
            <a:ext cx="10058400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12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RISPOSTA ALLA DOMANDA INIZIALE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Cosa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dimostra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il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progetto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38912" y="1426464"/>
            <a:ext cx="11301984" cy="0"/>
          </a:xfrm>
          <a:prstGeom prst="line">
            <a:avLst/>
          </a:prstGeom>
          <a:ln w="22860">
            <a:solidFill>
              <a:srgbClr val="D7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947672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41148" cy="1874519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3209544" cy="339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087F8C"/>
                </a:solidFill>
                <a:latin typeface="Times New Roman"/>
              </a:defRPr>
            </a:pPr>
            <a:r>
              <a:rPr kumimoji="0" lang="it-IT" sz="23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 zero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2657" y="2613611"/>
            <a:ext cx="3520440" cy="969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DDPM e Transformer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propri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Pipeline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verificata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riproducibile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97679" y="1947672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E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79" y="1947672"/>
            <a:ext cx="41148" cy="1874519"/>
          </a:xfrm>
          <a:prstGeom prst="rect">
            <a:avLst/>
          </a:prstGeom>
          <a:solidFill>
            <a:srgbClr val="80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7992" y="2103120"/>
            <a:ext cx="32095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8052B8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8052B8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Risultato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06039"/>
            <a:ext cx="3209544" cy="969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Loss e KID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inferiori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Controllo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testuale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più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costoso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19" y="1947672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3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19" y="1947672"/>
            <a:ext cx="41148" cy="1874519"/>
          </a:xfrm>
          <a:prstGeom prst="rect">
            <a:avLst/>
          </a:prstGeom>
          <a:solidFill>
            <a:srgbClr val="AB6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7031" y="2103120"/>
            <a:ext cx="32095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1" i="0">
                <a:solidFill>
                  <a:srgbClr val="AB6331"/>
                </a:solidFill>
                <a:latin typeface="Times New Roman"/>
              </a:defRPr>
            </a:pPr>
            <a:r>
              <a:rPr kumimoji="0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Limite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AB6331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199" y="2606039"/>
            <a:ext cx="3209544" cy="63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 b="0" i="0">
                <a:solidFill>
                  <a:srgbClr val="173349"/>
                </a:solidFill>
                <a:latin typeface="Times New Roman"/>
              </a:defRPr>
            </a:pP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Evidenze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incoraggianti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</a:t>
            </a: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non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una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prova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definitiv</a:t>
            </a: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" y="4389120"/>
            <a:ext cx="10881360" cy="399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i="0">
                <a:solidFill>
                  <a:srgbClr val="173349"/>
                </a:solidFill>
                <a:latin typeface="Times New Roman"/>
              </a:defRPr>
            </a:pPr>
            <a:r>
              <a:rPr kumimoji="0" lang="it-IT" sz="27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Risultati incoraggianti con limiti dichiarati.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173349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330952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="0" i="0">
                <a:solidFill>
                  <a:srgbClr val="526675"/>
                </a:solidFill>
                <a:latin typeface="Times New Roman"/>
              </a:defRPr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Più campioni · classificatore di attributi validato · sampling accelerato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3344" y="6464808"/>
            <a:ext cx="896112" cy="17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526675"/>
                </a:solidFill>
                <a:latin typeface="Times New Roman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26675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/ 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5BAA055-D683-54BB-8BA8-ACD7F0FB55F1}"/>
              </a:ext>
            </a:extLst>
          </p:cNvPr>
          <p:cNvSpPr txBox="1"/>
          <p:nvPr/>
        </p:nvSpPr>
        <p:spPr>
          <a:xfrm>
            <a:off x="1288212" y="2651446"/>
            <a:ext cx="5251329" cy="155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173349"/>
                </a:solidFill>
                <a:latin typeface="Times New Roman"/>
              </a:defRPr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7334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GRAZIE PER L’ATTENZIONE!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BF66E87-41D1-CFD6-3653-519EA74C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9" b="7024"/>
          <a:stretch>
            <a:fillRect/>
          </a:stretch>
        </p:blipFill>
        <p:spPr>
          <a:xfrm>
            <a:off x="6859847" y="1556529"/>
            <a:ext cx="4043941" cy="374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0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1039</Words>
  <Application>Microsoft Office PowerPoint</Application>
  <PresentationFormat>Widescreen</PresentationFormat>
  <Paragraphs>225</Paragraphs>
  <Slides>14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Times New Roman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D'Ambrosio</dc:creator>
  <cp:lastModifiedBy>Domenico D'Ambrosio</cp:lastModifiedBy>
  <cp:revision>1</cp:revision>
  <dcterms:created xsi:type="dcterms:W3CDTF">2026-10-22T16:38:58Z</dcterms:created>
  <dcterms:modified xsi:type="dcterms:W3CDTF">2026-10-22T16:40:39Z</dcterms:modified>
</cp:coreProperties>
</file>